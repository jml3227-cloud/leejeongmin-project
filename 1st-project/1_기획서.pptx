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386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10401300" y="1255471"/>
            <a:ext cx="1276502" cy="4849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11062669" y="6546607"/>
            <a:ext cx="172364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이정민</a:t>
            </a:r>
            <a:r>
              <a:rPr lang="en-US" altLang="ko-KR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_20260316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52805" y="2479720"/>
            <a:ext cx="10458907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유저 이탈 방지 및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리텐션 최적화</a:t>
            </a:r>
            <a:r>
              <a:rPr lang="en-US" sz="4800" b="1" kern="0" spc="-112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위한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6A5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서비스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l="-450" r="-450"/>
          <a:stretch/>
        </p:blipFill>
        <p:spPr>
          <a:xfrm>
            <a:off x="609905" y="476402"/>
            <a:ext cx="38405" cy="30449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" y="457200"/>
            <a:ext cx="11018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-36" normalizeH="0" baseline="0" noProof="0" dirty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의도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11387023" y="457200"/>
            <a:ext cx="2770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9CA3AF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609905" y="1028700"/>
            <a:ext cx="112782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0" cap="none" spc="-81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</a:t>
            </a:r>
            <a:r>
              <a:rPr kumimoji="0" lang="ko-KR" altLang="en-US" sz="2700" b="1" i="0" u="none" strike="noStrike" kern="0" cap="none" spc="-81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</a:t>
            </a:r>
            <a:r>
              <a:rPr kumimoji="0" lang="en-US" sz="2700" b="1" i="0" u="none" strike="noStrike" kern="0" cap="none" spc="-81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</a:t>
            </a:r>
            <a:r>
              <a:rPr kumimoji="0" lang="en-US" sz="2700" b="1" i="0" u="none" strike="noStrike" kern="0" cap="none" spc="-81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증가 국면, 리텐션 방어 해법은 광고형 요금제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09905" y="1973275"/>
            <a:ext cx="3353105" cy="38405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9905" y="2240280"/>
            <a:ext cx="35433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-240" normalizeH="0" baseline="0" noProof="0" dirty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6.3%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09905" y="3154680"/>
            <a:ext cx="3429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미국 프리미엄 스트리밍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해지율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09905" y="3764585"/>
            <a:ext cx="3467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+1.2%p (YoY) · WSJ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419295" y="1973275"/>
            <a:ext cx="335310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19295" y="2240280"/>
            <a:ext cx="35433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-24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24.6%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4419295" y="3154680"/>
            <a:ext cx="3429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국내 넷플릭스·티빙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이용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4419295" y="3764585"/>
            <a:ext cx="3467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KOCCA(2024)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229600" y="1973275"/>
            <a:ext cx="3353105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2240280"/>
            <a:ext cx="35433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-240" normalizeH="0" baseline="0" noProof="0" dirty="0">
                <a:ln>
                  <a:noFill/>
                </a:ln>
                <a:solidFill>
                  <a:srgbClr val="059669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85.2%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8229600" y="3154680"/>
            <a:ext cx="342900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374151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 의향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 txBox="1"/>
          <p:nvPr/>
        </p:nvSpPr>
        <p:spPr>
          <a:xfrm>
            <a:off x="8229600" y="3764585"/>
            <a:ext cx="3467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(광고형 이용자 중) · KOCCA(2024)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09905" y="5572354"/>
            <a:ext cx="1097280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09905" y="5857646"/>
            <a:ext cx="8385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now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8"/>
          <p:cNvSpPr txBox="1"/>
          <p:nvPr/>
        </p:nvSpPr>
        <p:spPr>
          <a:xfrm>
            <a:off x="1524305" y="5810098"/>
            <a:ext cx="283829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구독료 인상 흐름 속 해지율 상승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609905" y="6191402"/>
            <a:ext cx="8385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 what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/>
          <p:cNvSpPr txBox="1"/>
          <p:nvPr/>
        </p:nvSpPr>
        <p:spPr>
          <a:xfrm>
            <a:off x="1524305" y="6143854"/>
            <a:ext cx="31738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요금제로 유지율(리텐션) 방어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1"/>
          <p:cNvSpPr txBox="1"/>
          <p:nvPr/>
        </p:nvSpPr>
        <p:spPr>
          <a:xfrm>
            <a:off x="9608515" y="6200546"/>
            <a:ext cx="198424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CA3AF"/>
                </a:solidFill>
                <a:effectLst/>
                <a:uLnTx/>
                <a:uFillTx/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WSJ, KOCCA(2024)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81405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85546"/>
            <a:ext cx="590702" cy="495605"/>
          </a:xfrm>
          <a:prstGeom prst="roundRect">
            <a:avLst>
              <a:gd name="adj" fmla="val 5677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485546"/>
            <a:ext cx="648310" cy="4956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97787" y="476402"/>
            <a:ext cx="5824728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목표</a:t>
            </a:r>
            <a:r>
              <a:rPr lang="en-US" altLang="ko-KR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r>
              <a:rPr lang="en-US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2700" dirty="0">
              <a:solidFill>
                <a:srgbClr val="C00000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761695" y="1476756"/>
            <a:ext cx="972007" cy="342900"/>
          </a:xfrm>
          <a:prstGeom prst="roundRect">
            <a:avLst>
              <a:gd name="adj" fmla="val 88889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2022" y="1494174"/>
            <a:ext cx="1193861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</a:rPr>
              <a:t>ML</a:t>
            </a:r>
            <a:r>
              <a:rPr lang="ko-KR" alt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</a:rPr>
              <a:t> 모델 설계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875523" y="1476756"/>
            <a:ext cx="227868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이용 시간 예측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1695" y="2391156"/>
            <a:ext cx="4038905" cy="1920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61695" y="2009851"/>
            <a:ext cx="88605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Input (X)</a:t>
            </a:r>
            <a:endParaRPr lang="en-US" sz="15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1648" r="-1648"/>
          <a:stretch/>
        </p:blipFill>
        <p:spPr>
          <a:xfrm>
            <a:off x="4629607" y="2057400"/>
            <a:ext cx="171907" cy="19019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61695" y="2562149"/>
            <a:ext cx="4038905" cy="1390802"/>
          </a:xfrm>
          <a:prstGeom prst="roundRect">
            <a:avLst>
              <a:gd name="adj" fmla="val 1080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923544" y="2762402"/>
            <a:ext cx="190195" cy="15270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75617" y="2733141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행태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23544" y="3047695"/>
            <a:ext cx="10287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028700" y="3114446"/>
            <a:ext cx="99395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시청 비중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2020824" y="3047695"/>
            <a:ext cx="990295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2125066" y="3114446"/>
            <a:ext cx="91074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자체제작 선호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079699" y="3047695"/>
            <a:ext cx="1095451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/>
          <p:cNvSpPr txBox="1"/>
          <p:nvPr/>
        </p:nvSpPr>
        <p:spPr>
          <a:xfrm>
            <a:off x="3184855" y="3114446"/>
            <a:ext cx="115945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· 추천 시청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923544" y="3457346"/>
            <a:ext cx="1114654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1028700" y="3524098"/>
            <a:ext cx="104881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몰아보기 선호도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761695" y="4105656"/>
            <a:ext cx="4038905" cy="981151"/>
          </a:xfrm>
          <a:prstGeom prst="roundRect">
            <a:avLst>
              <a:gd name="adj" fmla="val 2171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923544" y="4304995"/>
            <a:ext cx="190195" cy="15270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175617" y="4267505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 통계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923544" y="4591202"/>
            <a:ext cx="4572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1028700" y="4657954"/>
            <a:ext cx="3246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성별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1454810" y="4591202"/>
            <a:ext cx="4572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7"/>
          <p:cNvSpPr txBox="1"/>
          <p:nvPr/>
        </p:nvSpPr>
        <p:spPr>
          <a:xfrm>
            <a:off x="1559966" y="4657954"/>
            <a:ext cx="3246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연령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1986077" y="4591202"/>
            <a:ext cx="743407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2091233" y="4657954"/>
            <a:ext cx="635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 소득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761695" y="5238598"/>
            <a:ext cx="4038905" cy="981151"/>
          </a:xfrm>
          <a:prstGeom prst="roundRect">
            <a:avLst>
              <a:gd name="adj" fmla="val 2171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923544" y="5438851"/>
            <a:ext cx="190195" cy="152705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193035" y="5400446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정보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23544" y="5724144"/>
            <a:ext cx="743407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1028700" y="5790895"/>
            <a:ext cx="635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가구원 수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1738274" y="5724144"/>
            <a:ext cx="619049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5"/>
          <p:cNvSpPr txBox="1"/>
          <p:nvPr/>
        </p:nvSpPr>
        <p:spPr>
          <a:xfrm>
            <a:off x="1842516" y="5790895"/>
            <a:ext cx="4974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기기 수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2428646" y="5724144"/>
            <a:ext cx="1028700" cy="333756"/>
          </a:xfrm>
          <a:prstGeom prst="roundRect">
            <a:avLst>
              <a:gd name="adj" fmla="val 939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7"/>
          <p:cNvSpPr txBox="1"/>
          <p:nvPr/>
        </p:nvSpPr>
        <p:spPr>
          <a:xfrm>
            <a:off x="2533802" y="5790895"/>
            <a:ext cx="99395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 이용 시간대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086807" y="2391156"/>
            <a:ext cx="3029407" cy="1920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5086807" y="2009851"/>
            <a:ext cx="962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(y)</a:t>
            </a:r>
            <a:endParaRPr lang="en-US" sz="1500" dirty="0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925105" y="2057400"/>
            <a:ext cx="190195" cy="190195"/>
          </a:xfrm>
          <a:prstGeom prst="rect">
            <a:avLst/>
          </a:prstGeom>
        </p:spPr>
      </p:pic>
      <p:sp>
        <p:nvSpPr>
          <p:cNvPr id="47" name="Shape 40"/>
          <p:cNvSpPr/>
          <p:nvPr/>
        </p:nvSpPr>
        <p:spPr>
          <a:xfrm>
            <a:off x="5086807" y="2562149"/>
            <a:ext cx="3029407" cy="2838298"/>
          </a:xfrm>
          <a:prstGeom prst="roundRect">
            <a:avLst>
              <a:gd name="adj" fmla="val 3459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372454" y="3099816"/>
            <a:ext cx="457200" cy="45720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5884164" y="3747211"/>
            <a:ext cx="143835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주중 + 주말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이용 시간</a:t>
            </a:r>
            <a:endParaRPr lang="en-US" sz="2100" dirty="0"/>
          </a:p>
        </p:txBody>
      </p:sp>
      <p:sp>
        <p:nvSpPr>
          <p:cNvPr id="50" name="Shape 42"/>
          <p:cNvSpPr/>
          <p:nvPr/>
        </p:nvSpPr>
        <p:spPr>
          <a:xfrm>
            <a:off x="5810098" y="4558284"/>
            <a:ext cx="1591056" cy="304495"/>
          </a:xfrm>
          <a:prstGeom prst="roundRect">
            <a:avLst>
              <a:gd name="adj" fmla="val 300300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3"/>
          <p:cNvSpPr/>
          <p:nvPr/>
        </p:nvSpPr>
        <p:spPr>
          <a:xfrm>
            <a:off x="5727802" y="4558284"/>
            <a:ext cx="1755648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D28D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연속형 수치 (분 단위)</a:t>
            </a:r>
            <a:endParaRPr lang="en-US" sz="1200" dirty="0"/>
          </a:p>
        </p:txBody>
      </p:sp>
      <p:sp>
        <p:nvSpPr>
          <p:cNvPr id="52" name="Shape 44"/>
          <p:cNvSpPr/>
          <p:nvPr/>
        </p:nvSpPr>
        <p:spPr>
          <a:xfrm>
            <a:off x="5086807" y="5591556"/>
            <a:ext cx="3029407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5"/>
          <p:cNvSpPr/>
          <p:nvPr/>
        </p:nvSpPr>
        <p:spPr>
          <a:xfrm>
            <a:off x="5086807" y="5591556"/>
            <a:ext cx="38405" cy="790956"/>
          </a:xfrm>
          <a:prstGeom prst="roundRect">
            <a:avLst>
              <a:gd name="adj" fmla="val 458976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6"/>
          <p:cNvSpPr txBox="1"/>
          <p:nvPr/>
        </p:nvSpPr>
        <p:spPr>
          <a:xfrm>
            <a:off x="5277002" y="5753405"/>
            <a:ext cx="278434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Algorithm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5277002" y="5962802"/>
            <a:ext cx="278434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Regressor</a:t>
            </a:r>
            <a:endParaRPr lang="en-US" sz="1300" dirty="0"/>
          </a:p>
        </p:txBody>
      </p:sp>
      <p:sp>
        <p:nvSpPr>
          <p:cNvPr id="56" name="Shape 48"/>
          <p:cNvSpPr/>
          <p:nvPr/>
        </p:nvSpPr>
        <p:spPr>
          <a:xfrm>
            <a:off x="8401507" y="2391156"/>
            <a:ext cx="3029407" cy="1920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9"/>
          <p:cNvSpPr txBox="1"/>
          <p:nvPr/>
        </p:nvSpPr>
        <p:spPr>
          <a:xfrm>
            <a:off x="8401507" y="2009851"/>
            <a:ext cx="819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활용</a:t>
            </a:r>
            <a:endParaRPr lang="en-US" sz="1500" dirty="0"/>
          </a:p>
        </p:txBody>
      </p:sp>
      <p:pic>
        <p:nvPicPr>
          <p:cNvPr id="5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1239805" y="2057400"/>
            <a:ext cx="190195" cy="190195"/>
          </a:xfrm>
          <a:prstGeom prst="rect">
            <a:avLst/>
          </a:prstGeom>
        </p:spPr>
      </p:pic>
      <p:sp>
        <p:nvSpPr>
          <p:cNvPr id="59" name="Shape 50"/>
          <p:cNvSpPr/>
          <p:nvPr/>
        </p:nvSpPr>
        <p:spPr>
          <a:xfrm>
            <a:off x="8401507" y="2586381"/>
            <a:ext cx="3029407" cy="2814066"/>
          </a:xfrm>
          <a:prstGeom prst="roundRect">
            <a:avLst>
              <a:gd name="adj" fmla="val 303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1"/>
          <p:cNvSpPr txBox="1"/>
          <p:nvPr/>
        </p:nvSpPr>
        <p:spPr>
          <a:xfrm>
            <a:off x="8639251" y="2744365"/>
            <a:ext cx="2743200" cy="16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그룹 분류</a:t>
            </a:r>
            <a:endParaRPr lang="en-US" sz="1200" dirty="0"/>
          </a:p>
        </p:txBody>
      </p:sp>
      <p:sp>
        <p:nvSpPr>
          <p:cNvPr id="61" name="Shape 52"/>
          <p:cNvSpPr/>
          <p:nvPr/>
        </p:nvSpPr>
        <p:spPr>
          <a:xfrm>
            <a:off x="8639251" y="3043820"/>
            <a:ext cx="2553005" cy="589492"/>
          </a:xfrm>
          <a:prstGeom prst="roundRect">
            <a:avLst>
              <a:gd name="adj" fmla="val 2721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3"/>
          <p:cNvSpPr/>
          <p:nvPr/>
        </p:nvSpPr>
        <p:spPr>
          <a:xfrm>
            <a:off x="8639251" y="3026402"/>
            <a:ext cx="57607" cy="589492"/>
          </a:xfrm>
          <a:prstGeom prst="roundRect">
            <a:avLst>
              <a:gd name="adj" fmla="val 377930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3" name="Text 54"/>
          <p:cNvSpPr txBox="1"/>
          <p:nvPr/>
        </p:nvSpPr>
        <p:spPr>
          <a:xfrm>
            <a:off x="8848649" y="3138237"/>
            <a:ext cx="1024128" cy="189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위험군</a:t>
            </a:r>
            <a:endParaRPr lang="en-US" sz="1300" dirty="0"/>
          </a:p>
        </p:txBody>
      </p:sp>
      <p:pic>
        <p:nvPicPr>
          <p:cNvPr id="64" name="Image 7" descr="preencoded.png"/>
          <p:cNvPicPr>
            <a:picLocks noChangeAspect="1"/>
          </p:cNvPicPr>
          <p:nvPr/>
        </p:nvPicPr>
        <p:blipFill>
          <a:blip r:embed="rId10"/>
          <a:srcRect t="-24734" b="-24734"/>
          <a:stretch/>
        </p:blipFill>
        <p:spPr>
          <a:xfrm>
            <a:off x="10867644" y="3138237"/>
            <a:ext cx="171907" cy="189311"/>
          </a:xfrm>
          <a:prstGeom prst="rect">
            <a:avLst/>
          </a:prstGeom>
        </p:spPr>
      </p:pic>
      <p:sp>
        <p:nvSpPr>
          <p:cNvPr id="65" name="Text 55"/>
          <p:cNvSpPr txBox="1"/>
          <p:nvPr/>
        </p:nvSpPr>
        <p:spPr>
          <a:xfrm>
            <a:off x="8848649" y="3355843"/>
            <a:ext cx="2366467" cy="14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시간 급감 및 저조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8639251" y="3773442"/>
            <a:ext cx="2553005" cy="589492"/>
          </a:xfrm>
          <a:prstGeom prst="roundRect">
            <a:avLst>
              <a:gd name="adj" fmla="val 2721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57"/>
          <p:cNvSpPr/>
          <p:nvPr/>
        </p:nvSpPr>
        <p:spPr>
          <a:xfrm>
            <a:off x="8639251" y="3756024"/>
            <a:ext cx="57607" cy="589492"/>
          </a:xfrm>
          <a:prstGeom prst="roundRect">
            <a:avLst>
              <a:gd name="adj" fmla="val 37793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8"/>
          <p:cNvSpPr txBox="1"/>
          <p:nvPr/>
        </p:nvSpPr>
        <p:spPr>
          <a:xfrm>
            <a:off x="8848649" y="3868533"/>
            <a:ext cx="553212" cy="189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보통군</a:t>
            </a:r>
            <a:endParaRPr lang="en-US" sz="1300" dirty="0"/>
          </a:p>
        </p:txBody>
      </p:sp>
      <p:pic>
        <p:nvPicPr>
          <p:cNvPr id="69" name="Image 8" descr="preencoded.png"/>
          <p:cNvPicPr>
            <a:picLocks noChangeAspect="1"/>
          </p:cNvPicPr>
          <p:nvPr/>
        </p:nvPicPr>
        <p:blipFill>
          <a:blip r:embed="rId11"/>
          <a:srcRect t="-23615" b="-23615"/>
          <a:stretch/>
        </p:blipFill>
        <p:spPr>
          <a:xfrm>
            <a:off x="10886846" y="3868533"/>
            <a:ext cx="152705" cy="189311"/>
          </a:xfrm>
          <a:prstGeom prst="rect">
            <a:avLst/>
          </a:prstGeom>
        </p:spPr>
      </p:pic>
      <p:sp>
        <p:nvSpPr>
          <p:cNvPr id="70" name="Text 59"/>
          <p:cNvSpPr txBox="1"/>
          <p:nvPr/>
        </p:nvSpPr>
        <p:spPr>
          <a:xfrm>
            <a:off x="8848649" y="4086140"/>
            <a:ext cx="2366467" cy="14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이용 시간 유지</a:t>
            </a:r>
            <a:endParaRPr lang="en-US" sz="1000" dirty="0"/>
          </a:p>
        </p:txBody>
      </p:sp>
      <p:sp>
        <p:nvSpPr>
          <p:cNvPr id="71" name="Shape 60"/>
          <p:cNvSpPr/>
          <p:nvPr/>
        </p:nvSpPr>
        <p:spPr>
          <a:xfrm>
            <a:off x="8639251" y="4503065"/>
            <a:ext cx="2553005" cy="589492"/>
          </a:xfrm>
          <a:prstGeom prst="roundRect">
            <a:avLst>
              <a:gd name="adj" fmla="val 2721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61"/>
          <p:cNvSpPr/>
          <p:nvPr/>
        </p:nvSpPr>
        <p:spPr>
          <a:xfrm>
            <a:off x="8639251" y="4485647"/>
            <a:ext cx="57607" cy="589492"/>
          </a:xfrm>
          <a:prstGeom prst="roundRect">
            <a:avLst>
              <a:gd name="adj" fmla="val 377930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62"/>
          <p:cNvSpPr txBox="1"/>
          <p:nvPr/>
        </p:nvSpPr>
        <p:spPr>
          <a:xfrm>
            <a:off x="8848649" y="4598155"/>
            <a:ext cx="553212" cy="189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안정군</a:t>
            </a:r>
            <a:endParaRPr lang="en-US" sz="130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12"/>
          <a:srcRect t="-24734" b="-24734"/>
          <a:stretch/>
        </p:blipFill>
        <p:spPr>
          <a:xfrm>
            <a:off x="10867644" y="4598155"/>
            <a:ext cx="171907" cy="189311"/>
          </a:xfrm>
          <a:prstGeom prst="rect">
            <a:avLst/>
          </a:prstGeom>
        </p:spPr>
      </p:pic>
      <p:sp>
        <p:nvSpPr>
          <p:cNvPr id="75" name="Text 63"/>
          <p:cNvSpPr txBox="1"/>
          <p:nvPr/>
        </p:nvSpPr>
        <p:spPr>
          <a:xfrm>
            <a:off x="8848649" y="4815762"/>
            <a:ext cx="2366467" cy="147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충성도 및 이용 시간</a:t>
            </a:r>
            <a:endParaRPr lang="en-US" sz="1000" dirty="0"/>
          </a:p>
        </p:txBody>
      </p:sp>
      <p:sp>
        <p:nvSpPr>
          <p:cNvPr id="77" name="Shape 44">
            <a:extLst>
              <a:ext uri="{FF2B5EF4-FFF2-40B4-BE49-F238E27FC236}">
                <a16:creationId xmlns:a16="http://schemas.microsoft.com/office/drawing/2014/main" id="{3F2A238A-396B-A1BF-3FF4-B9BA715001A3}"/>
              </a:ext>
            </a:extLst>
          </p:cNvPr>
          <p:cNvSpPr/>
          <p:nvPr/>
        </p:nvSpPr>
        <p:spPr>
          <a:xfrm>
            <a:off x="8401507" y="5591556"/>
            <a:ext cx="3029407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45">
            <a:extLst>
              <a:ext uri="{FF2B5EF4-FFF2-40B4-BE49-F238E27FC236}">
                <a16:creationId xmlns:a16="http://schemas.microsoft.com/office/drawing/2014/main" id="{827B1C8F-C66E-3CAD-1D7C-63F76B23A778}"/>
              </a:ext>
            </a:extLst>
          </p:cNvPr>
          <p:cNvSpPr/>
          <p:nvPr/>
        </p:nvSpPr>
        <p:spPr>
          <a:xfrm>
            <a:off x="8401507" y="5591556"/>
            <a:ext cx="38405" cy="790956"/>
          </a:xfrm>
          <a:prstGeom prst="roundRect">
            <a:avLst>
              <a:gd name="adj" fmla="val 458976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46">
            <a:extLst>
              <a:ext uri="{FF2B5EF4-FFF2-40B4-BE49-F238E27FC236}">
                <a16:creationId xmlns:a16="http://schemas.microsoft.com/office/drawing/2014/main" id="{DE202022-11F7-387E-CBC6-AB7C5A491022}"/>
              </a:ext>
            </a:extLst>
          </p:cNvPr>
          <p:cNvSpPr txBox="1"/>
          <p:nvPr/>
        </p:nvSpPr>
        <p:spPr>
          <a:xfrm>
            <a:off x="8591702" y="5753405"/>
            <a:ext cx="278434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Algorithm</a:t>
            </a:r>
            <a:endParaRPr lang="en-US" sz="900" dirty="0"/>
          </a:p>
        </p:txBody>
      </p:sp>
      <p:sp>
        <p:nvSpPr>
          <p:cNvPr id="80" name="Text 47">
            <a:extLst>
              <a:ext uri="{FF2B5EF4-FFF2-40B4-BE49-F238E27FC236}">
                <a16:creationId xmlns:a16="http://schemas.microsoft.com/office/drawing/2014/main" id="{388CDB39-6C87-6827-889B-A412FAFB3FB9}"/>
              </a:ext>
            </a:extLst>
          </p:cNvPr>
          <p:cNvSpPr txBox="1"/>
          <p:nvPr/>
        </p:nvSpPr>
        <p:spPr>
          <a:xfrm>
            <a:off x="8591702" y="5962802"/>
            <a:ext cx="278434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classifier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81405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85546"/>
            <a:ext cx="590702" cy="495605"/>
          </a:xfrm>
          <a:prstGeom prst="roundRect">
            <a:avLst>
              <a:gd name="adj" fmla="val 56770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761695" y="485546"/>
            <a:ext cx="648310" cy="4956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97786" y="476402"/>
            <a:ext cx="4817059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목표</a:t>
            </a:r>
            <a:r>
              <a:rPr lang="en-US" altLang="ko-KR" sz="27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761695" y="1476756"/>
            <a:ext cx="972007" cy="342900"/>
          </a:xfrm>
          <a:prstGeom prst="roundRect">
            <a:avLst>
              <a:gd name="adj" fmla="val 88889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92023" y="1485465"/>
            <a:ext cx="1078992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63500" rIns="114300" bIns="635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</a:rPr>
              <a:t>ML </a:t>
            </a:r>
            <a:r>
              <a:rPr lang="ko-KR" alt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</a:rPr>
              <a:t>모델 설계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840687" y="1476756"/>
            <a:ext cx="31107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수용도 예측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1695" y="2391156"/>
            <a:ext cx="4038905" cy="1920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61695" y="2009851"/>
            <a:ext cx="88605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Input (X)</a:t>
            </a:r>
            <a:endParaRPr lang="en-US" sz="15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-1648" r="-1648"/>
          <a:stretch/>
        </p:blipFill>
        <p:spPr>
          <a:xfrm>
            <a:off x="4629607" y="2057400"/>
            <a:ext cx="171907" cy="19019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761695" y="2562149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-1862" b="-1862"/>
          <a:stretch/>
        </p:blipFill>
        <p:spPr>
          <a:xfrm>
            <a:off x="886054" y="2722169"/>
            <a:ext cx="171907" cy="14264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1882" y="2686507"/>
            <a:ext cx="7013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행태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86054" y="2976372"/>
            <a:ext cx="6665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972007" y="3023921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비중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1604772" y="2976372"/>
            <a:ext cx="8951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1690726" y="3023921"/>
            <a:ext cx="8458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자체제작 선호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886054" y="3314700"/>
            <a:ext cx="733349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/>
          <p:cNvSpPr txBox="1"/>
          <p:nvPr/>
        </p:nvSpPr>
        <p:spPr>
          <a:xfrm>
            <a:off x="972007" y="3362249"/>
            <a:ext cx="7434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· 추천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1674266" y="3314700"/>
            <a:ext cx="629107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1759306" y="3362249"/>
            <a:ext cx="5340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몰아보기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838298" y="2562149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rcRect t="-1862" b="-1862"/>
          <a:stretch/>
        </p:blipFill>
        <p:spPr>
          <a:xfrm>
            <a:off x="2962656" y="2722169"/>
            <a:ext cx="171907" cy="14264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3168485" y="2686507"/>
            <a:ext cx="7013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인구 통계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962656" y="2976372"/>
            <a:ext cx="400507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3047695" y="3023921"/>
            <a:ext cx="3054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성별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3418942" y="2976372"/>
            <a:ext cx="400507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7"/>
          <p:cNvSpPr txBox="1"/>
          <p:nvPr/>
        </p:nvSpPr>
        <p:spPr>
          <a:xfrm>
            <a:off x="3504895" y="3023921"/>
            <a:ext cx="3054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연령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3875227" y="2976372"/>
            <a:ext cx="6665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3961181" y="3023921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 소득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761695" y="4529023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rcRect t="-1862" b="-1862"/>
          <a:stretch/>
        </p:blipFill>
        <p:spPr>
          <a:xfrm>
            <a:off x="886054" y="4689043"/>
            <a:ext cx="171907" cy="142646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091882" y="4653382"/>
            <a:ext cx="70134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정보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886054" y="4943246"/>
            <a:ext cx="6665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 txBox="1"/>
          <p:nvPr/>
        </p:nvSpPr>
        <p:spPr>
          <a:xfrm>
            <a:off x="972007" y="4990795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가구원 수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1604772" y="4943246"/>
            <a:ext cx="552298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5"/>
          <p:cNvSpPr txBox="1"/>
          <p:nvPr/>
        </p:nvSpPr>
        <p:spPr>
          <a:xfrm>
            <a:off x="1690726" y="4990795"/>
            <a:ext cx="46177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기기 수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886054" y="5281574"/>
            <a:ext cx="933602" cy="286207"/>
          </a:xfrm>
          <a:prstGeom prst="roundRect">
            <a:avLst>
              <a:gd name="adj" fmla="val 1277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7"/>
          <p:cNvSpPr txBox="1"/>
          <p:nvPr/>
        </p:nvSpPr>
        <p:spPr>
          <a:xfrm>
            <a:off x="972007" y="5329123"/>
            <a:ext cx="9235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 이용 시간대</a:t>
            </a:r>
            <a:endParaRPr lang="en-US" sz="900" dirty="0"/>
          </a:p>
        </p:txBody>
      </p:sp>
      <p:sp>
        <p:nvSpPr>
          <p:cNvPr id="44" name="Shape 38"/>
          <p:cNvSpPr/>
          <p:nvPr/>
        </p:nvSpPr>
        <p:spPr>
          <a:xfrm>
            <a:off x="2838298" y="4529023"/>
            <a:ext cx="1962302" cy="1857146"/>
          </a:xfrm>
          <a:prstGeom prst="roundRect">
            <a:avLst>
              <a:gd name="adj" fmla="val 606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4" descr="preencoded.png"/>
          <p:cNvPicPr>
            <a:picLocks noChangeAspect="1"/>
          </p:cNvPicPr>
          <p:nvPr/>
        </p:nvPicPr>
        <p:blipFill>
          <a:blip r:embed="rId7"/>
          <a:srcRect l="-3561" r="-3561"/>
          <a:stretch/>
        </p:blipFill>
        <p:spPr>
          <a:xfrm>
            <a:off x="2962656" y="4689043"/>
            <a:ext cx="171907" cy="142646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3168485" y="4653382"/>
            <a:ext cx="10067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2962656" y="4943246"/>
            <a:ext cx="933602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1"/>
          <p:cNvSpPr txBox="1"/>
          <p:nvPr/>
        </p:nvSpPr>
        <p:spPr>
          <a:xfrm>
            <a:off x="3047695" y="4990795"/>
            <a:ext cx="9235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이용 요금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2962656" y="5281574"/>
            <a:ext cx="1047902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3"/>
          <p:cNvSpPr txBox="1"/>
          <p:nvPr/>
        </p:nvSpPr>
        <p:spPr>
          <a:xfrm>
            <a:off x="3047695" y="5329123"/>
            <a:ext cx="105156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이용 현황</a:t>
            </a:r>
            <a:endParaRPr lang="en-US" sz="900" dirty="0"/>
          </a:p>
        </p:txBody>
      </p:sp>
      <p:sp>
        <p:nvSpPr>
          <p:cNvPr id="51" name="Shape 44"/>
          <p:cNvSpPr/>
          <p:nvPr/>
        </p:nvSpPr>
        <p:spPr>
          <a:xfrm>
            <a:off x="5086807" y="2391156"/>
            <a:ext cx="3029407" cy="1920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5"/>
          <p:cNvSpPr txBox="1"/>
          <p:nvPr/>
        </p:nvSpPr>
        <p:spPr>
          <a:xfrm>
            <a:off x="5086807" y="2009851"/>
            <a:ext cx="962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(y)</a:t>
            </a:r>
            <a:endParaRPr lang="en-US" sz="1500" dirty="0"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5105" y="2057400"/>
            <a:ext cx="190195" cy="190195"/>
          </a:xfrm>
          <a:prstGeom prst="rect">
            <a:avLst/>
          </a:prstGeom>
        </p:spPr>
      </p:pic>
      <p:sp>
        <p:nvSpPr>
          <p:cNvPr id="54" name="Shape 46"/>
          <p:cNvSpPr/>
          <p:nvPr/>
        </p:nvSpPr>
        <p:spPr>
          <a:xfrm>
            <a:off x="5086807" y="2562149"/>
            <a:ext cx="3029407" cy="2838298"/>
          </a:xfrm>
          <a:prstGeom prst="roundRect">
            <a:avLst>
              <a:gd name="adj" fmla="val 3459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6" descr="preencoded.png"/>
          <p:cNvPicPr>
            <a:picLocks noChangeAspect="1"/>
          </p:cNvPicPr>
          <p:nvPr/>
        </p:nvPicPr>
        <p:blipFill>
          <a:blip r:embed="rId9"/>
          <a:srcRect l="-5556" r="-5556"/>
          <a:stretch/>
        </p:blipFill>
        <p:spPr>
          <a:xfrm>
            <a:off x="6314846" y="3078785"/>
            <a:ext cx="571500" cy="457200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5817413" y="3726180"/>
            <a:ext cx="15755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dirty="0">
                <a:solidFill>
                  <a:srgbClr val="5B21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의향 점수</a:t>
            </a:r>
            <a:endParaRPr lang="en-US" sz="1900" dirty="0"/>
          </a:p>
        </p:txBody>
      </p:sp>
      <p:sp>
        <p:nvSpPr>
          <p:cNvPr id="59" name="Shape 50"/>
          <p:cNvSpPr/>
          <p:nvPr/>
        </p:nvSpPr>
        <p:spPr>
          <a:xfrm>
            <a:off x="5086807" y="5591556"/>
            <a:ext cx="3029407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1"/>
          <p:cNvSpPr/>
          <p:nvPr/>
        </p:nvSpPr>
        <p:spPr>
          <a:xfrm>
            <a:off x="5086807" y="5591556"/>
            <a:ext cx="38405" cy="790956"/>
          </a:xfrm>
          <a:prstGeom prst="roundRect">
            <a:avLst>
              <a:gd name="adj" fmla="val 458976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2"/>
          <p:cNvSpPr txBox="1"/>
          <p:nvPr/>
        </p:nvSpPr>
        <p:spPr>
          <a:xfrm>
            <a:off x="5277002" y="5753405"/>
            <a:ext cx="278434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Algorithm</a:t>
            </a:r>
            <a:endParaRPr lang="en-US" sz="900" dirty="0"/>
          </a:p>
        </p:txBody>
      </p:sp>
      <p:sp>
        <p:nvSpPr>
          <p:cNvPr id="62" name="Text 53"/>
          <p:cNvSpPr txBox="1"/>
          <p:nvPr/>
        </p:nvSpPr>
        <p:spPr>
          <a:xfrm>
            <a:off x="5277002" y="5962802"/>
            <a:ext cx="278434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 Regressor</a:t>
            </a:r>
            <a:endParaRPr lang="en-US" sz="1300" dirty="0"/>
          </a:p>
        </p:txBody>
      </p:sp>
      <p:sp>
        <p:nvSpPr>
          <p:cNvPr id="63" name="Shape 54"/>
          <p:cNvSpPr/>
          <p:nvPr/>
        </p:nvSpPr>
        <p:spPr>
          <a:xfrm>
            <a:off x="8401507" y="2391156"/>
            <a:ext cx="3029407" cy="1920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55"/>
          <p:cNvSpPr txBox="1"/>
          <p:nvPr/>
        </p:nvSpPr>
        <p:spPr>
          <a:xfrm>
            <a:off x="8401507" y="2009851"/>
            <a:ext cx="8193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활용</a:t>
            </a:r>
            <a:endParaRPr lang="en-US" sz="1500" dirty="0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1239805" y="2057400"/>
            <a:ext cx="190195" cy="190195"/>
          </a:xfrm>
          <a:prstGeom prst="rect">
            <a:avLst/>
          </a:prstGeom>
        </p:spPr>
      </p:pic>
      <p:sp>
        <p:nvSpPr>
          <p:cNvPr id="66" name="Shape 56"/>
          <p:cNvSpPr/>
          <p:nvPr/>
        </p:nvSpPr>
        <p:spPr>
          <a:xfrm>
            <a:off x="8401507" y="2562149"/>
            <a:ext cx="3029407" cy="3819449"/>
          </a:xfrm>
          <a:prstGeom prst="roundRect">
            <a:avLst>
              <a:gd name="adj" fmla="val 303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57"/>
          <p:cNvSpPr/>
          <p:nvPr/>
        </p:nvSpPr>
        <p:spPr>
          <a:xfrm>
            <a:off x="9534449" y="3082442"/>
            <a:ext cx="761695" cy="761695"/>
          </a:xfrm>
          <a:prstGeom prst="ellipse">
            <a:avLst/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687154" y="3235147"/>
            <a:ext cx="457200" cy="457200"/>
          </a:xfrm>
          <a:prstGeom prst="rect">
            <a:avLst/>
          </a:prstGeom>
        </p:spPr>
      </p:pic>
      <p:sp>
        <p:nvSpPr>
          <p:cNvPr id="69" name="Text 58"/>
          <p:cNvSpPr txBox="1"/>
          <p:nvPr/>
        </p:nvSpPr>
        <p:spPr>
          <a:xfrm>
            <a:off x="8890711" y="4130345"/>
            <a:ext cx="205648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프로모션 타겟 선별</a:t>
            </a:r>
            <a:endParaRPr lang="en-US" sz="1600" dirty="0"/>
          </a:p>
        </p:txBody>
      </p:sp>
      <p:sp>
        <p:nvSpPr>
          <p:cNvPr id="70" name="Shape 59"/>
          <p:cNvSpPr/>
          <p:nvPr/>
        </p:nvSpPr>
        <p:spPr>
          <a:xfrm>
            <a:off x="8639251" y="4730191"/>
            <a:ext cx="2553005" cy="1133856"/>
          </a:xfrm>
          <a:prstGeom prst="roundRect">
            <a:avLst>
              <a:gd name="adj" fmla="val 16265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0"/>
          <p:cNvSpPr txBox="1"/>
          <p:nvPr/>
        </p:nvSpPr>
        <p:spPr>
          <a:xfrm>
            <a:off x="8801100" y="4930445"/>
            <a:ext cx="2229307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수용도 점수 기반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전환 가능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그룹 추출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924458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381305"/>
            <a:ext cx="694944" cy="400507"/>
          </a:xfrm>
          <a:prstGeom prst="roundRect">
            <a:avLst>
              <a:gd name="adj" fmla="val 86975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71500" y="381305"/>
            <a:ext cx="752551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63500" rIns="139700" bIns="6350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S-01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9829" y="381305"/>
            <a:ext cx="754688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화면설계서 / </a:t>
            </a:r>
            <a:r>
              <a:rPr lang="en-US" sz="2100" b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메인 페이지 </a:t>
            </a:r>
            <a:r>
              <a:rPr lang="en-US" sz="2100" b="1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2100" b="1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장은 필요없음</a:t>
            </a:r>
            <a:r>
              <a:rPr lang="en-US" altLang="ko-KR" sz="2100" b="1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2100" dirty="0">
              <a:solidFill>
                <a:srgbClr val="C00000"/>
              </a:solidFill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571500" y="1123798"/>
            <a:ext cx="6400800" cy="535289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71754" y="1324051"/>
            <a:ext cx="6001207" cy="4953305"/>
          </a:xfrm>
          <a:prstGeom prst="roundRect">
            <a:avLst>
              <a:gd name="adj" fmla="val 568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80898" y="1333195"/>
            <a:ext cx="5982005" cy="476402"/>
          </a:xfrm>
          <a:prstGeom prst="roundRect">
            <a:avLst>
              <a:gd name="adj" fmla="val 6142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80898" y="1800454"/>
            <a:ext cx="5982005" cy="9144"/>
          </a:xfrm>
          <a:prstGeom prst="roundRect">
            <a:avLst>
              <a:gd name="adj" fmla="val 3200000"/>
            </a:avLst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1029614" y="1452982"/>
            <a:ext cx="1216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OTT Analytics 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140964" y="1481328"/>
            <a:ext cx="1911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437230" y="1481328"/>
            <a:ext cx="97017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 예측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427525" y="1481328"/>
            <a:ext cx="108813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분석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80898" y="1809598"/>
            <a:ext cx="5982005" cy="4457700"/>
          </a:xfrm>
          <a:prstGeom prst="roundRect">
            <a:avLst>
              <a:gd name="adj" fmla="val 7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972007" y="2000707"/>
            <a:ext cx="57918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예측부터 리텐션 전략까지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72007" y="2171700"/>
            <a:ext cx="5715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OTT 구독자 리텐션 AI 솔루션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2007" y="2467051"/>
            <a:ext cx="57918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마케터를 위한 유저 분석 플랫폼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72007" y="2924251"/>
            <a:ext cx="5715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72007" y="3200400"/>
            <a:ext cx="1809598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1095451" y="3323844"/>
            <a:ext cx="16386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F6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87%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095451" y="3705149"/>
            <a:ext cx="1687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없음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2870302" y="3200400"/>
            <a:ext cx="1809598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2993746" y="3323844"/>
            <a:ext cx="16386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13%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993746" y="3705149"/>
            <a:ext cx="1687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68596" y="3200400"/>
            <a:ext cx="1809598" cy="790956"/>
          </a:xfrm>
          <a:prstGeom prst="roundRect">
            <a:avLst>
              <a:gd name="adj" fmla="val 22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4892954" y="3323844"/>
            <a:ext cx="16386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4892954" y="3705149"/>
            <a:ext cx="168706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리텐션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972007" y="4224528"/>
            <a:ext cx="57918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기능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972007" y="4500677"/>
            <a:ext cx="1809598" cy="1580998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1095451" y="4624121"/>
            <a:ext cx="286207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71346" y="4700930"/>
            <a:ext cx="133502" cy="133502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5451" y="4986223"/>
            <a:ext cx="1624889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1095451" y="5686654"/>
            <a:ext cx="16248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 시간 기반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충성도 점수 산출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2870302" y="4500677"/>
            <a:ext cx="1809598" cy="1580998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4"/>
          <p:cNvSpPr/>
          <p:nvPr/>
        </p:nvSpPr>
        <p:spPr>
          <a:xfrm>
            <a:off x="2993746" y="4624121"/>
            <a:ext cx="286207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3060497" y="4700930"/>
            <a:ext cx="152705" cy="133502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2993746" y="4986223"/>
            <a:ext cx="1624889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2993746" y="5686654"/>
            <a:ext cx="16248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민감도 기반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 타겟 식별</a:t>
            </a:r>
            <a:endParaRPr lang="en-US" sz="800" dirty="0"/>
          </a:p>
        </p:txBody>
      </p:sp>
      <p:sp>
        <p:nvSpPr>
          <p:cNvPr id="42" name="Shape 37"/>
          <p:cNvSpPr/>
          <p:nvPr/>
        </p:nvSpPr>
        <p:spPr>
          <a:xfrm>
            <a:off x="4768596" y="4500677"/>
            <a:ext cx="1809598" cy="1580998"/>
          </a:xfrm>
          <a:prstGeom prst="roundRect">
            <a:avLst>
              <a:gd name="adj" fmla="val 55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4892954" y="4624121"/>
            <a:ext cx="286207" cy="286207"/>
          </a:xfrm>
          <a:prstGeom prst="roundRect">
            <a:avLst>
              <a:gd name="adj" fmla="val 127796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4983480" y="4700930"/>
            <a:ext cx="105156" cy="133502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4892954" y="4986223"/>
            <a:ext cx="1624889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endParaRPr lang="en-US" sz="900" dirty="0"/>
          </a:p>
        </p:txBody>
      </p:sp>
      <p:sp>
        <p:nvSpPr>
          <p:cNvPr id="46" name="Text 40"/>
          <p:cNvSpPr txBox="1"/>
          <p:nvPr/>
        </p:nvSpPr>
        <p:spPr>
          <a:xfrm>
            <a:off x="4892954" y="5686654"/>
            <a:ext cx="16248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결과 기반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 전략 제안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7448702" y="1233526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2"/>
          <p:cNvSpPr/>
          <p:nvPr/>
        </p:nvSpPr>
        <p:spPr>
          <a:xfrm>
            <a:off x="7410298" y="1233526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Text 43"/>
          <p:cNvSpPr txBox="1"/>
          <p:nvPr/>
        </p:nvSpPr>
        <p:spPr>
          <a:xfrm>
            <a:off x="7867498" y="1214323"/>
            <a:ext cx="1666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로고</a:t>
            </a:r>
            <a:endParaRPr lang="en-US" sz="1200" dirty="0"/>
          </a:p>
        </p:txBody>
      </p:sp>
      <p:sp>
        <p:nvSpPr>
          <p:cNvPr id="50" name="Text 44"/>
          <p:cNvSpPr txBox="1"/>
          <p:nvPr/>
        </p:nvSpPr>
        <p:spPr>
          <a:xfrm>
            <a:off x="7867498" y="1481328"/>
            <a:ext cx="160477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로고 및 브랜드명.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 시 메인 페이지로 이동.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7448702" y="2128723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6"/>
          <p:cNvSpPr/>
          <p:nvPr/>
        </p:nvSpPr>
        <p:spPr>
          <a:xfrm>
            <a:off x="7410298" y="2128723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Text 47"/>
          <p:cNvSpPr txBox="1"/>
          <p:nvPr/>
        </p:nvSpPr>
        <p:spPr>
          <a:xfrm>
            <a:off x="7867498" y="2109521"/>
            <a:ext cx="1666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내비게이션 바</a:t>
            </a:r>
            <a:endParaRPr lang="en-US" sz="1200" dirty="0"/>
          </a:p>
        </p:txBody>
      </p:sp>
      <p:sp>
        <p:nvSpPr>
          <p:cNvPr id="54" name="Text 48"/>
          <p:cNvSpPr txBox="1"/>
          <p:nvPr/>
        </p:nvSpPr>
        <p:spPr>
          <a:xfrm>
            <a:off x="7867498" y="2376526"/>
            <a:ext cx="19321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메뉴로 각 분석 페이지 이동.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7448702" y="2824582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0"/>
          <p:cNvSpPr/>
          <p:nvPr/>
        </p:nvSpPr>
        <p:spPr>
          <a:xfrm>
            <a:off x="7410298" y="2824582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57" name="Text 51"/>
          <p:cNvSpPr txBox="1"/>
          <p:nvPr/>
        </p:nvSpPr>
        <p:spPr>
          <a:xfrm>
            <a:off x="7867498" y="2805379"/>
            <a:ext cx="21607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대시보드</a:t>
            </a:r>
            <a:endParaRPr lang="en-US" sz="1200" dirty="0"/>
          </a:p>
        </p:txBody>
      </p:sp>
      <p:sp>
        <p:nvSpPr>
          <p:cNvPr id="58" name="Text 52"/>
          <p:cNvSpPr txBox="1"/>
          <p:nvPr/>
        </p:nvSpPr>
        <p:spPr>
          <a:xfrm>
            <a:off x="7867498" y="3071470"/>
            <a:ext cx="20766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모델이 예측한 리텐션 분석 결과.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(이탈없음 / 이탈위험 / 리텐션)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7448702" y="3719779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4"/>
          <p:cNvSpPr/>
          <p:nvPr/>
        </p:nvSpPr>
        <p:spPr>
          <a:xfrm>
            <a:off x="7410298" y="3719779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7867498" y="3700577"/>
            <a:ext cx="16980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충성도 예측</a:t>
            </a:r>
            <a:endParaRPr lang="en-US" sz="1200" dirty="0"/>
          </a:p>
        </p:txBody>
      </p:sp>
      <p:sp>
        <p:nvSpPr>
          <p:cNvPr id="62" name="Text 56"/>
          <p:cNvSpPr txBox="1"/>
          <p:nvPr/>
        </p:nvSpPr>
        <p:spPr>
          <a:xfrm>
            <a:off x="7867498" y="3967582"/>
            <a:ext cx="163494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드롭다운으로 입력값 선택 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이탈 위험도 예측 결과 출력.</a:t>
            </a:r>
            <a:endParaRPr lang="en-US" sz="1000" dirty="0"/>
          </a:p>
        </p:txBody>
      </p:sp>
      <p:pic>
        <p:nvPicPr>
          <p:cNvPr id="63" name="Image 4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9329623" y="4021531"/>
            <a:ext cx="105156" cy="114300"/>
          </a:xfrm>
          <a:prstGeom prst="rect">
            <a:avLst/>
          </a:prstGeom>
        </p:spPr>
      </p:pic>
      <p:sp>
        <p:nvSpPr>
          <p:cNvPr id="64" name="Shape 57"/>
          <p:cNvSpPr/>
          <p:nvPr/>
        </p:nvSpPr>
        <p:spPr>
          <a:xfrm>
            <a:off x="7448702" y="4614977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8"/>
          <p:cNvSpPr/>
          <p:nvPr/>
        </p:nvSpPr>
        <p:spPr>
          <a:xfrm>
            <a:off x="7410298" y="4614977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  <p:sp>
        <p:nvSpPr>
          <p:cNvPr id="66" name="Text 59"/>
          <p:cNvSpPr txBox="1"/>
          <p:nvPr/>
        </p:nvSpPr>
        <p:spPr>
          <a:xfrm>
            <a:off x="7867498" y="4595774"/>
            <a:ext cx="16980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광고형 요금제 분석</a:t>
            </a:r>
            <a:endParaRPr lang="en-US" sz="1200" dirty="0"/>
          </a:p>
        </p:txBody>
      </p:sp>
      <p:sp>
        <p:nvSpPr>
          <p:cNvPr id="67" name="Text 60"/>
          <p:cNvSpPr txBox="1"/>
          <p:nvPr/>
        </p:nvSpPr>
        <p:spPr>
          <a:xfrm>
            <a:off x="7867498" y="4862779"/>
            <a:ext cx="163494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드롭다운으로 입력값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수용도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출력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00" dirty="0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9329623" y="4917643"/>
            <a:ext cx="105156" cy="114300"/>
          </a:xfrm>
          <a:prstGeom prst="rect">
            <a:avLst/>
          </a:prstGeom>
        </p:spPr>
      </p:pic>
      <p:sp>
        <p:nvSpPr>
          <p:cNvPr id="69" name="Shape 61"/>
          <p:cNvSpPr/>
          <p:nvPr/>
        </p:nvSpPr>
        <p:spPr>
          <a:xfrm>
            <a:off x="7448702" y="5510174"/>
            <a:ext cx="267005" cy="267005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2"/>
          <p:cNvSpPr/>
          <p:nvPr/>
        </p:nvSpPr>
        <p:spPr>
          <a:xfrm>
            <a:off x="7410298" y="5510174"/>
            <a:ext cx="342900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7867498" y="5490972"/>
            <a:ext cx="1625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 인사이트</a:t>
            </a:r>
            <a:endParaRPr lang="en-US" sz="1200" dirty="0"/>
          </a:p>
        </p:txBody>
      </p:sp>
      <p:sp>
        <p:nvSpPr>
          <p:cNvPr id="72" name="Text 64"/>
          <p:cNvSpPr txBox="1"/>
          <p:nvPr/>
        </p:nvSpPr>
        <p:spPr>
          <a:xfrm>
            <a:off x="7867498" y="5757977"/>
            <a:ext cx="156545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그룹 분포 차트 시각화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프로모션 타겟 목록 제공.</a:t>
            </a:r>
            <a:endParaRPr lang="en-US" sz="1000" dirty="0"/>
          </a:p>
        </p:txBody>
      </p:sp>
      <p:pic>
        <p:nvPicPr>
          <p:cNvPr id="7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66851" y="1419149"/>
            <a:ext cx="267005" cy="267005"/>
          </a:xfrm>
          <a:prstGeom prst="rect">
            <a:avLst/>
          </a:prstGeom>
        </p:spPr>
      </p:pic>
      <p:sp>
        <p:nvSpPr>
          <p:cNvPr id="74" name="Text 65"/>
          <p:cNvSpPr/>
          <p:nvPr/>
        </p:nvSpPr>
        <p:spPr>
          <a:xfrm>
            <a:off x="828446" y="1419149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pic>
        <p:nvPicPr>
          <p:cNvPr id="75" name="Image 7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923875" y="1419149"/>
            <a:ext cx="267005" cy="267005"/>
          </a:xfrm>
          <a:prstGeom prst="rect">
            <a:avLst/>
          </a:prstGeom>
        </p:spPr>
      </p:pic>
      <p:sp>
        <p:nvSpPr>
          <p:cNvPr id="76" name="Text 66"/>
          <p:cNvSpPr/>
          <p:nvPr/>
        </p:nvSpPr>
        <p:spPr>
          <a:xfrm>
            <a:off x="3877056" y="1419149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pic>
        <p:nvPicPr>
          <p:cNvPr id="77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409944" y="3038551"/>
            <a:ext cx="267005" cy="267005"/>
          </a:xfrm>
          <a:prstGeom prst="rect">
            <a:avLst/>
          </a:prstGeom>
        </p:spPr>
      </p:pic>
      <p:sp>
        <p:nvSpPr>
          <p:cNvPr id="78" name="Text 67"/>
          <p:cNvSpPr/>
          <p:nvPr/>
        </p:nvSpPr>
        <p:spPr>
          <a:xfrm>
            <a:off x="6372454" y="3038551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61949" y="5820156"/>
            <a:ext cx="267005" cy="267005"/>
          </a:xfrm>
          <a:prstGeom prst="rect">
            <a:avLst/>
          </a:prstGeom>
        </p:spPr>
      </p:pic>
      <p:sp>
        <p:nvSpPr>
          <p:cNvPr id="80" name="Text 68"/>
          <p:cNvSpPr/>
          <p:nvPr/>
        </p:nvSpPr>
        <p:spPr>
          <a:xfrm>
            <a:off x="923544" y="5820156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pic>
        <p:nvPicPr>
          <p:cNvPr id="81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6644" y="5820156"/>
            <a:ext cx="267005" cy="267005"/>
          </a:xfrm>
          <a:prstGeom prst="rect">
            <a:avLst/>
          </a:prstGeom>
        </p:spPr>
      </p:pic>
      <p:sp>
        <p:nvSpPr>
          <p:cNvPr id="82" name="Text 69"/>
          <p:cNvSpPr/>
          <p:nvPr/>
        </p:nvSpPr>
        <p:spPr>
          <a:xfrm>
            <a:off x="2829154" y="5820156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00" dirty="0"/>
          </a:p>
        </p:txBody>
      </p:sp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314846" y="5820156"/>
            <a:ext cx="267005" cy="267005"/>
          </a:xfrm>
          <a:prstGeom prst="rect">
            <a:avLst/>
          </a:prstGeom>
        </p:spPr>
      </p:pic>
      <p:sp>
        <p:nvSpPr>
          <p:cNvPr id="84" name="Text 70"/>
          <p:cNvSpPr/>
          <p:nvPr/>
        </p:nvSpPr>
        <p:spPr>
          <a:xfrm>
            <a:off x="6277356" y="5820156"/>
            <a:ext cx="3429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426</Words>
  <Application>Microsoft Office PowerPoint</Application>
  <PresentationFormat>와이드스크린</PresentationFormat>
  <Paragraphs>152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 J</cp:lastModifiedBy>
  <cp:revision>8</cp:revision>
  <dcterms:created xsi:type="dcterms:W3CDTF">2026-03-16T01:49:59Z</dcterms:created>
  <dcterms:modified xsi:type="dcterms:W3CDTF">2026-03-16T13:40:41Z</dcterms:modified>
</cp:coreProperties>
</file>