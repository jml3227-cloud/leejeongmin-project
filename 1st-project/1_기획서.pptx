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61" r:id="rId3"/>
    <p:sldId id="262" r:id="rId4"/>
    <p:sldId id="259" r:id="rId5"/>
    <p:sldId id="263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63865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0401300" y="1255471"/>
            <a:ext cx="1276502" cy="4849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11062669" y="6546607"/>
            <a:ext cx="172364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이정민</a:t>
            </a:r>
            <a:r>
              <a:rPr lang="en-US" altLang="ko-KR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_20260320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952805" y="2479720"/>
            <a:ext cx="10458907" cy="2200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-112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OTT 유저 이탈 방지 및</a:t>
            </a:r>
            <a:endParaRPr lang="en-US" sz="4800" dirty="0"/>
          </a:p>
          <a:p>
            <a:pPr marL="0" indent="0" algn="l">
              <a:buNone/>
            </a:pPr>
            <a:r>
              <a:rPr lang="en-US" sz="4800" b="1" kern="0" spc="-112" dirty="0">
                <a:solidFill>
                  <a:srgbClr val="2F6B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리텐션 최적화</a:t>
            </a:r>
            <a:r>
              <a:rPr lang="en-US" sz="4800" b="1" kern="0" spc="-112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위한</a:t>
            </a:r>
            <a:endParaRPr lang="en-US" sz="4800" dirty="0"/>
          </a:p>
          <a:p>
            <a:pPr marL="0" indent="0" algn="l">
              <a:buNone/>
            </a:pPr>
            <a:r>
              <a:rPr lang="en-US" sz="4800" b="1" kern="0" spc="-112" dirty="0">
                <a:solidFill>
                  <a:srgbClr val="6A5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생성형 AI 서비스</a:t>
            </a:r>
            <a:endParaRPr lang="en-US" sz="4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l="-450" r="-450"/>
          <a:stretch/>
        </p:blipFill>
        <p:spPr>
          <a:xfrm>
            <a:off x="609905" y="476402"/>
            <a:ext cx="38405" cy="30449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00100" y="457200"/>
            <a:ext cx="110185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-36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기획 의도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609905" y="1028700"/>
            <a:ext cx="112782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1" i="0" u="none" strike="noStrike" kern="0" cap="none" spc="-81" normalizeH="0" baseline="0" noProof="0" dirty="0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OTT 시장 포화 — 이제 성장보다 이탈 방지가 먼저다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1_bar"/>
          <p:cNvSpPr/>
          <p:nvPr/>
        </p:nvSpPr>
        <p:spPr>
          <a:xfrm>
            <a:off x="609905" y="1650000"/>
            <a:ext cx="57150" cy="155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8" name="S1_tag"/>
          <p:cNvSpPr txBox="1"/>
          <p:nvPr/>
        </p:nvSpPr>
        <p:spPr>
          <a:xfrm>
            <a:off x="780000" y="1650000"/>
            <a:ext cx="24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buNone/>
            </a:pPr>
            <a:r>
              <a:rPr lang="en-US" sz="1000" b="1" dirty="0">
                <a:solidFill>
                  <a:srgbClr val="DC2626"/>
                </a:solidFill>
                <a:latin typeface="Noto Sans KR" pitchFamily="34" charset="0"/>
              </a:rPr>
              <a:t>01  MARKET SATURATION</a:t>
            </a:r>
          </a:p>
        </p:txBody>
      </p:sp>
      <p:sp>
        <p:nvSpPr>
          <p:cNvPr id="9" name="S1_num"/>
          <p:cNvSpPr txBox="1"/>
          <p:nvPr/>
        </p:nvSpPr>
        <p:spPr>
          <a:xfrm>
            <a:off x="780000" y="1880000"/>
            <a:ext cx="5000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buNone/>
            </a:pPr>
            <a:r>
              <a:rPr lang="en-US" sz="5200" b="1" dirty="0">
                <a:solidFill>
                  <a:srgbClr val="111827"/>
                </a:solidFill>
                <a:latin typeface="Noto Sans KR" pitchFamily="34" charset="0"/>
              </a:rPr>
              <a:t>96%</a:t>
            </a:r>
            <a:r>
              <a:rPr lang="ko-KR" altLang="en-US" sz="1600" b="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</a:rPr>
              <a:t>  10~40대 이용률</a:t>
            </a:r>
          </a:p>
        </p:txBody>
      </p:sp>
      <p:sp>
        <p:nvSpPr>
          <p:cNvPr id="10" name="S1_desc"/>
          <p:cNvSpPr txBox="1"/>
          <p:nvPr/>
        </p:nvSpPr>
        <p:spPr>
          <a:xfrm>
            <a:off x="780000" y="2879918"/>
            <a:ext cx="5000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buNone/>
            </a:pPr>
            <a:r>
              <a:rPr lang="ko-KR" altLang="en-US" sz="1200" b="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신규 유저 포화 상태</a:t>
            </a:r>
          </a:p>
        </p:txBody>
      </p:sp>
      <p:sp>
        <p:nvSpPr>
          <p:cNvPr id="11" name="Div1"/>
          <p:cNvSpPr/>
          <p:nvPr/>
        </p:nvSpPr>
        <p:spPr>
          <a:xfrm>
            <a:off x="609905" y="3250000"/>
            <a:ext cx="55000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12" name="S2_bar"/>
          <p:cNvSpPr/>
          <p:nvPr/>
        </p:nvSpPr>
        <p:spPr>
          <a:xfrm>
            <a:off x="609905" y="3320000"/>
            <a:ext cx="57150" cy="155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13" name="S2_tag"/>
          <p:cNvSpPr txBox="1"/>
          <p:nvPr/>
        </p:nvSpPr>
        <p:spPr>
          <a:xfrm>
            <a:off x="780000" y="3320000"/>
            <a:ext cx="30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buNone/>
            </a:pPr>
            <a:r>
              <a:rPr lang="en-US" sz="1000" b="1" dirty="0">
                <a:solidFill>
                  <a:srgbClr val="1D4ED8"/>
                </a:solidFill>
                <a:latin typeface="Noto Sans KR" pitchFamily="34" charset="0"/>
              </a:rPr>
              <a:t>02  RETENTION-FIRST</a:t>
            </a:r>
          </a:p>
        </p:txBody>
      </p:sp>
      <p:sp>
        <p:nvSpPr>
          <p:cNvPr id="14" name="S2_headline"/>
          <p:cNvSpPr txBox="1"/>
          <p:nvPr/>
        </p:nvSpPr>
        <p:spPr>
          <a:xfrm>
            <a:off x="780000" y="3550000"/>
            <a:ext cx="5000000" cy="1289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buNone/>
            </a:pPr>
            <a:r>
              <a:rPr lang="ko-KR" altLang="en-US" sz="2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</a:rPr>
              <a:t>질적 유지가 </a:t>
            </a:r>
            <a:endParaRPr lang="en-US" altLang="ko-KR" sz="2800" b="1" dirty="0">
              <a:solidFill>
                <a:srgbClr val="111827"/>
              </a:solidFill>
              <a:latin typeface="Noto Sans KR" pitchFamily="34" charset="0"/>
              <a:ea typeface="Noto Sans KR" pitchFamily="34" charset="-122"/>
            </a:endParaRPr>
          </a:p>
          <a:p>
            <a:pPr algn="l">
              <a:buNone/>
            </a:pPr>
            <a:r>
              <a:rPr lang="ko-KR" altLang="en-US" sz="2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</a:rPr>
              <a:t>답이다</a:t>
            </a:r>
          </a:p>
        </p:txBody>
      </p:sp>
      <p:sp>
        <p:nvSpPr>
          <p:cNvPr id="16" name="Div2"/>
          <p:cNvSpPr/>
          <p:nvPr/>
        </p:nvSpPr>
        <p:spPr>
          <a:xfrm>
            <a:off x="609905" y="4900000"/>
            <a:ext cx="55000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17" name="S3_bar"/>
          <p:cNvSpPr/>
          <p:nvPr/>
        </p:nvSpPr>
        <p:spPr>
          <a:xfrm>
            <a:off x="609905" y="4970000"/>
            <a:ext cx="57150" cy="155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19" name="S3_tag"/>
          <p:cNvSpPr txBox="1"/>
          <p:nvPr/>
        </p:nvSpPr>
        <p:spPr>
          <a:xfrm>
            <a:off x="780000" y="4970000"/>
            <a:ext cx="24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buNone/>
            </a:pPr>
            <a:r>
              <a:rPr lang="en-US" sz="1000" b="1" dirty="0">
                <a:solidFill>
                  <a:srgbClr val="DC2626"/>
                </a:solidFill>
                <a:latin typeface="Noto Sans KR" pitchFamily="34" charset="0"/>
              </a:rPr>
              <a:t>03  CHURN RISK</a:t>
            </a:r>
          </a:p>
        </p:txBody>
      </p:sp>
      <p:sp>
        <p:nvSpPr>
          <p:cNvPr id="20" name="S3_num"/>
          <p:cNvSpPr txBox="1"/>
          <p:nvPr/>
        </p:nvSpPr>
        <p:spPr>
          <a:xfrm>
            <a:off x="780000" y="5200000"/>
            <a:ext cx="5000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buNone/>
            </a:pPr>
            <a:r>
              <a:rPr lang="ko-KR" altLang="en-US" sz="5200" b="1" dirty="0">
                <a:solidFill>
                  <a:srgbClr val="DC2626"/>
                </a:solidFill>
                <a:latin typeface="Noto Sans KR" pitchFamily="34" charset="0"/>
              </a:rPr>
              <a:t>↓</a:t>
            </a:r>
            <a:r>
              <a:rPr lang="en-US" sz="5200" b="1" dirty="0">
                <a:solidFill>
                  <a:srgbClr val="DC2626"/>
                </a:solidFill>
                <a:latin typeface="Noto Sans KR" pitchFamily="34" charset="0"/>
              </a:rPr>
              <a:t>2%</a:t>
            </a:r>
            <a:r>
              <a:rPr lang="ko-KR" altLang="en-US" sz="1600" b="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</a:rPr>
              <a:t>  해지율 보합 — 억눌린 이탈</a:t>
            </a:r>
          </a:p>
        </p:txBody>
      </p:sp>
      <p:sp>
        <p:nvSpPr>
          <p:cNvPr id="21" name="S3_desc"/>
          <p:cNvSpPr txBox="1"/>
          <p:nvPr/>
        </p:nvSpPr>
        <p:spPr>
          <a:xfrm>
            <a:off x="780000" y="5920000"/>
            <a:ext cx="5000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buNone/>
            </a:pPr>
            <a:r>
              <a:rPr lang="ko-KR" altLang="en-US" sz="1200" b="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스트림플레이션으로 누적된 가격 피로.</a:t>
            </a:r>
          </a:p>
          <a:p>
            <a:pPr algn="l">
              <a:buNone/>
            </a:pPr>
            <a:r>
              <a:rPr lang="ko-KR" altLang="en-US" sz="1200" b="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잠재 이탈 위험군(High-Risk)은 이미 증가 중.</a:t>
            </a:r>
          </a:p>
        </p:txBody>
      </p:sp>
      <p:pic>
        <p:nvPicPr>
          <p:cNvPr id="32" name="R_Article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300000">
            <a:off x="7342376" y="2424941"/>
            <a:ext cx="4600000" cy="2900000"/>
          </a:xfrm>
          <a:prstGeom prst="rect">
            <a:avLst/>
          </a:prstGeom>
          <a:ln w="28575">
            <a:solidFill>
              <a:srgbClr val="FFFFFF"/>
            </a:solidFill>
          </a:ln>
        </p:spPr>
      </p:pic>
      <p:pic>
        <p:nvPicPr>
          <p:cNvPr id="30" name="R_Article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180000">
            <a:off x="6360449" y="1883398"/>
            <a:ext cx="4800000" cy="3200000"/>
          </a:xfrm>
          <a:prstGeom prst="rect">
            <a:avLst/>
          </a:prstGeom>
          <a:ln w="28575">
            <a:solidFill>
              <a:srgbClr val="FFFFFF"/>
            </a:solidFill>
          </a:ln>
        </p:spPr>
      </p:pic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2"/>
          <a:srcRect l="-450" r="-450"/>
          <a:stretch/>
        </p:blipFill>
        <p:spPr>
          <a:xfrm>
            <a:off x="609905" y="476402"/>
            <a:ext cx="38405" cy="30449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00100" y="457200"/>
            <a:ext cx="110185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-36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기획 의도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609905" y="1028700"/>
            <a:ext cx="112782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1" i="0" u="none" strike="noStrike" kern="0" cap="none" spc="-81" normalizeH="0" baseline="0" noProof="0" dirty="0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광고형 요금제 — 이탈을 막고 매출도 올리는 해법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Art_Shadow"/>
          <p:cNvSpPr/>
          <p:nvPr/>
        </p:nvSpPr>
        <p:spPr>
          <a:xfrm>
            <a:off x="502920" y="1600000"/>
            <a:ext cx="5100000" cy="29500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pic>
        <p:nvPicPr>
          <p:cNvPr id="51" name="Art_Img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00000"/>
            <a:ext cx="5100000" cy="3059144"/>
          </a:xfrm>
          <a:prstGeom prst="rect">
            <a:avLst/>
          </a:prstGeom>
          <a:ln w="28575">
            <a:solidFill>
              <a:srgbClr val="FFFFFF"/>
            </a:solidFill>
          </a:ln>
        </p:spPr>
      </p:pic>
      <p:sp>
        <p:nvSpPr>
          <p:cNvPr id="52" name="Conclusion_big"/>
          <p:cNvSpPr txBox="1"/>
          <p:nvPr/>
        </p:nvSpPr>
        <p:spPr>
          <a:xfrm>
            <a:off x="5900000" y="1700000"/>
            <a:ext cx="6000000" cy="28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buNone/>
            </a:pPr>
            <a:r>
              <a:rPr lang="ko-KR" altLang="en-US" sz="36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</a:rPr>
              <a:t>이탈 직전 유저에게</a:t>
            </a:r>
          </a:p>
          <a:p>
            <a:pPr algn="l">
              <a:buNone/>
            </a:pPr>
            <a:r>
              <a:rPr lang="ko-KR" altLang="en-US" sz="36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</a:rPr>
              <a:t>광고형 요금제를</a:t>
            </a:r>
          </a:p>
          <a:p>
            <a:pPr algn="l">
              <a:buNone/>
            </a:pPr>
            <a:r>
              <a:rPr lang="ko-KR" altLang="en-US" sz="36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</a:rPr>
              <a:t>제안하는 것</a:t>
            </a:r>
          </a:p>
        </p:txBody>
      </p:sp>
      <p:sp>
        <p:nvSpPr>
          <p:cNvPr id="53" name="Div"/>
          <p:cNvSpPr/>
          <p:nvPr/>
        </p:nvSpPr>
        <p:spPr>
          <a:xfrm>
            <a:off x="502920" y="4750000"/>
            <a:ext cx="114000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55" name="KW1_BG"/>
          <p:cNvSpPr/>
          <p:nvPr/>
        </p:nvSpPr>
        <p:spPr>
          <a:xfrm>
            <a:off x="502920" y="4850000"/>
            <a:ext cx="3600000" cy="1800000"/>
          </a:xfrm>
          <a:prstGeom prst="roundRect">
            <a:avLst>
              <a:gd name="adj" fmla="val 8000"/>
            </a:avLst>
          </a:prstGeom>
          <a:solidFill>
            <a:srgbClr val="FFF5F5"/>
          </a:solidFill>
          <a:ln w="19050">
            <a:solidFill>
              <a:srgbClr val="FECACA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56" name="KW1_text"/>
          <p:cNvSpPr txBox="1"/>
          <p:nvPr/>
        </p:nvSpPr>
        <p:spPr>
          <a:xfrm>
            <a:off x="692920" y="4940000"/>
            <a:ext cx="3220000" cy="16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buNone/>
            </a:pPr>
            <a:r>
              <a:rPr lang="ko-KR" altLang="en-US" sz="2600" b="1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</a:rPr>
              <a:t>광고형 요금제</a:t>
            </a:r>
          </a:p>
          <a:p>
            <a:pPr algn="l">
              <a:buNone/>
            </a:pPr>
            <a:endParaRPr lang="ko-KR" dirty="0"/>
          </a:p>
          <a:p>
            <a:pPr algn="l">
              <a:buNone/>
            </a:pPr>
            <a:r>
              <a:rPr lang="ko-KR" altLang="en-US" sz="1600" b="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</a:rPr>
              <a:t>구독료 ↓  +  광고 수익</a:t>
            </a:r>
          </a:p>
          <a:p>
            <a:pPr algn="l">
              <a:buNone/>
            </a:pPr>
            <a:r>
              <a:rPr lang="ko-KR" altLang="en-US" sz="1600" b="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</a:rPr>
              <a:t>→  ARPU ↑</a:t>
            </a:r>
          </a:p>
        </p:txBody>
      </p:sp>
      <p:sp>
        <p:nvSpPr>
          <p:cNvPr id="57" name="KW2_BG"/>
          <p:cNvSpPr/>
          <p:nvPr/>
        </p:nvSpPr>
        <p:spPr>
          <a:xfrm>
            <a:off x="4302920" y="4850000"/>
            <a:ext cx="3600000" cy="18000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9050">
            <a:solidFill>
              <a:srgbClr val="BFDBFE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58" name="KW2_text"/>
          <p:cNvSpPr txBox="1"/>
          <p:nvPr/>
        </p:nvSpPr>
        <p:spPr>
          <a:xfrm>
            <a:off x="4492920" y="4940000"/>
            <a:ext cx="3220000" cy="16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buNone/>
            </a:pPr>
            <a:r>
              <a:rPr lang="ko-KR" altLang="en-US" sz="26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</a:rPr>
              <a:t>정확한 타겟팅</a:t>
            </a:r>
          </a:p>
          <a:p>
            <a:pPr algn="l">
              <a:buNone/>
            </a:pPr>
            <a:endParaRPr lang="ko-KR" dirty="0"/>
          </a:p>
          <a:p>
            <a:pPr algn="l">
              <a:buNone/>
            </a:pPr>
            <a:r>
              <a:rPr lang="ko-KR" altLang="en-US" sz="1600" b="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</a:rPr>
              <a:t>이탈 직전 유저를</a:t>
            </a:r>
          </a:p>
          <a:p>
            <a:pPr algn="l">
              <a:buNone/>
            </a:pPr>
            <a:r>
              <a:rPr lang="ko-KR" altLang="en-US" sz="1600" b="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</a:rPr>
              <a:t>정확히 골라야 한다</a:t>
            </a:r>
          </a:p>
        </p:txBody>
      </p:sp>
      <p:sp>
        <p:nvSpPr>
          <p:cNvPr id="59" name="KW3_BG"/>
          <p:cNvSpPr/>
          <p:nvPr/>
        </p:nvSpPr>
        <p:spPr>
          <a:xfrm>
            <a:off x="8102920" y="4850000"/>
            <a:ext cx="3600000" cy="180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9050">
            <a:solidFill>
              <a:srgbClr val="BBF7D0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60" name="KW3_text"/>
          <p:cNvSpPr txBox="1"/>
          <p:nvPr/>
        </p:nvSpPr>
        <p:spPr>
          <a:xfrm>
            <a:off x="8292920" y="4940000"/>
            <a:ext cx="3220000" cy="16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buNone/>
            </a:pPr>
            <a:r>
              <a:rPr lang="ko-KR" altLang="en-US" sz="26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</a:rPr>
              <a:t>ML 예측</a:t>
            </a:r>
          </a:p>
          <a:p>
            <a:pPr algn="l">
              <a:buNone/>
            </a:pPr>
            <a:endParaRPr lang="ko-KR" dirty="0"/>
          </a:p>
          <a:p>
            <a:pPr algn="l">
              <a:buNone/>
            </a:pPr>
            <a:r>
              <a:rPr lang="ko-KR" altLang="en-US" sz="1600" b="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</a:rPr>
              <a:t>이탈 징후 감지</a:t>
            </a:r>
          </a:p>
          <a:p>
            <a:pPr algn="l">
              <a:buNone/>
            </a:pPr>
            <a:r>
              <a:rPr lang="ko-KR" altLang="en-US" sz="1600" b="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</a:rPr>
              <a:t>→ 전환율 · ARPU 극대화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761695" y="1181405"/>
            <a:ext cx="1066830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Header_Bar"/>
          <p:cNvPicPr>
            <a:picLocks noChangeAspect="1"/>
          </p:cNvPicPr>
          <p:nvPr/>
        </p:nvPicPr>
        <p:blipFill>
          <a:blip r:embed="rId3"/>
          <a:srcRect l="-450" r="-450"/>
          <a:stretch/>
        </p:blipFill>
        <p:spPr>
          <a:xfrm>
            <a:off x="609905" y="476402"/>
            <a:ext cx="38405" cy="304495"/>
          </a:xfrm>
          <a:prstGeom prst="rect">
            <a:avLst/>
          </a:prstGeom>
        </p:spPr>
      </p:pic>
      <p:sp>
        <p:nvSpPr>
          <p:cNvPr id="6" name="Header_Label"/>
          <p:cNvSpPr txBox="1"/>
          <p:nvPr/>
        </p:nvSpPr>
        <p:spPr>
          <a:xfrm>
            <a:off x="800100" y="457200"/>
            <a:ext cx="110185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kumimoji="0" lang="en-US" sz="1800" b="1" i="0" u="none" strike="noStrike" kern="0" cap="none" spc="-36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 목표</a:t>
            </a:r>
          </a:p>
        </p:txBody>
      </p:sp>
      <p:sp>
        <p:nvSpPr>
          <p:cNvPr id="51" name="Shape 44"/>
          <p:cNvSpPr/>
          <p:nvPr/>
        </p:nvSpPr>
        <p:spPr>
          <a:xfrm>
            <a:off x="5086807" y="1831305"/>
            <a:ext cx="3029407" cy="1920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45"/>
          <p:cNvSpPr txBox="1"/>
          <p:nvPr/>
        </p:nvSpPr>
        <p:spPr>
          <a:xfrm>
            <a:off x="5086807" y="1450000"/>
            <a:ext cx="962863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7C3A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Target (y)</a:t>
            </a:r>
            <a:endParaRPr lang="en-US" sz="1500" dirty="0"/>
          </a:p>
        </p:txBody>
      </p:sp>
      <p:pic>
        <p:nvPicPr>
          <p:cNvPr id="53" name="Image 5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925105" y="1497549"/>
            <a:ext cx="190195" cy="190195"/>
          </a:xfrm>
          <a:prstGeom prst="rect">
            <a:avLst/>
          </a:prstGeom>
        </p:spPr>
      </p:pic>
      <p:sp>
        <p:nvSpPr>
          <p:cNvPr id="54" name="Shape 46"/>
          <p:cNvSpPr/>
          <p:nvPr/>
        </p:nvSpPr>
        <p:spPr>
          <a:xfrm>
            <a:off x="5086807" y="2002298"/>
            <a:ext cx="3029407" cy="2278447"/>
          </a:xfrm>
          <a:prstGeom prst="roundRect">
            <a:avLst>
              <a:gd name="adj" fmla="val 3459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5" name="Image 6" descr="preencoded.png"/>
          <p:cNvPicPr>
            <a:picLocks noChangeAspect="1"/>
          </p:cNvPicPr>
          <p:nvPr/>
        </p:nvPicPr>
        <p:blipFill>
          <a:blip r:embed="rId5"/>
          <a:srcRect l="-5556" r="-5556"/>
          <a:stretch/>
        </p:blipFill>
        <p:spPr>
          <a:xfrm>
            <a:off x="6314846" y="2518934"/>
            <a:ext cx="571500" cy="457200"/>
          </a:xfrm>
          <a:prstGeom prst="rect">
            <a:avLst/>
          </a:prstGeom>
        </p:spPr>
      </p:pic>
      <p:sp>
        <p:nvSpPr>
          <p:cNvPr id="56" name="Text 47"/>
          <p:cNvSpPr txBox="1"/>
          <p:nvPr/>
        </p:nvSpPr>
        <p:spPr>
          <a:xfrm>
            <a:off x="5817413" y="3166329"/>
            <a:ext cx="1575511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5B21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광고형 요금제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b="1" dirty="0">
                <a:solidFill>
                  <a:srgbClr val="5B21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선호 점수 (0.0~1.0)</a:t>
            </a:r>
            <a:endParaRPr lang="en-US" sz="1900" dirty="0"/>
          </a:p>
        </p:txBody>
      </p:sp>
      <p:sp>
        <p:nvSpPr>
          <p:cNvPr id="59" name="Shape 50"/>
          <p:cNvSpPr/>
          <p:nvPr/>
        </p:nvSpPr>
        <p:spPr>
          <a:xfrm>
            <a:off x="5086807" y="5031705"/>
            <a:ext cx="3029407" cy="790956"/>
          </a:xfrm>
          <a:prstGeom prst="roundRect">
            <a:avLst>
              <a:gd name="adj" fmla="val 2228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51"/>
          <p:cNvSpPr/>
          <p:nvPr/>
        </p:nvSpPr>
        <p:spPr>
          <a:xfrm>
            <a:off x="5086807" y="5031705"/>
            <a:ext cx="38405" cy="790956"/>
          </a:xfrm>
          <a:prstGeom prst="roundRect">
            <a:avLst>
              <a:gd name="adj" fmla="val 458976"/>
            </a:avLst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Text 52"/>
          <p:cNvSpPr txBox="1"/>
          <p:nvPr/>
        </p:nvSpPr>
        <p:spPr>
          <a:xfrm>
            <a:off x="5277002" y="5193554"/>
            <a:ext cx="278434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Algorithm</a:t>
            </a:r>
            <a:endParaRPr lang="en-US" sz="900" dirty="0"/>
          </a:p>
        </p:txBody>
      </p:sp>
      <p:sp>
        <p:nvSpPr>
          <p:cNvPr id="62" name="Text 53"/>
          <p:cNvSpPr txBox="1"/>
          <p:nvPr/>
        </p:nvSpPr>
        <p:spPr>
          <a:xfrm>
            <a:off x="5277002" y="5402951"/>
            <a:ext cx="278434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Random Forest Regressor</a:t>
            </a:r>
            <a:endParaRPr lang="en-US" sz="1300" dirty="0"/>
          </a:p>
        </p:txBody>
      </p:sp>
      <p:sp>
        <p:nvSpPr>
          <p:cNvPr id="63" name="Shape 54"/>
          <p:cNvSpPr/>
          <p:nvPr/>
        </p:nvSpPr>
        <p:spPr>
          <a:xfrm>
            <a:off x="8401507" y="1831305"/>
            <a:ext cx="3029407" cy="1920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Text 55"/>
          <p:cNvSpPr txBox="1"/>
          <p:nvPr/>
        </p:nvSpPr>
        <p:spPr>
          <a:xfrm>
            <a:off x="8401507" y="1450000"/>
            <a:ext cx="8193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 활용</a:t>
            </a:r>
            <a:endParaRPr lang="en-US" sz="1500" dirty="0"/>
          </a:p>
        </p:txBody>
      </p:sp>
      <p:pic>
        <p:nvPicPr>
          <p:cNvPr id="65" name="Image 7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1239805" y="1497549"/>
            <a:ext cx="190195" cy="190195"/>
          </a:xfrm>
          <a:prstGeom prst="rect">
            <a:avLst/>
          </a:prstGeom>
        </p:spPr>
      </p:pic>
      <p:sp>
        <p:nvSpPr>
          <p:cNvPr id="66" name="Shape 56"/>
          <p:cNvSpPr/>
          <p:nvPr/>
        </p:nvSpPr>
        <p:spPr>
          <a:xfrm>
            <a:off x="8401507" y="2002297"/>
            <a:ext cx="3029407" cy="3820363"/>
          </a:xfrm>
          <a:prstGeom prst="roundRect">
            <a:avLst>
              <a:gd name="adj" fmla="val 3037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Shape 57"/>
          <p:cNvSpPr/>
          <p:nvPr/>
        </p:nvSpPr>
        <p:spPr>
          <a:xfrm>
            <a:off x="9534449" y="2522591"/>
            <a:ext cx="761695" cy="761695"/>
          </a:xfrm>
          <a:prstGeom prst="ellipse">
            <a:avLst/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8" name="Image 8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687154" y="2675296"/>
            <a:ext cx="457200" cy="457200"/>
          </a:xfrm>
          <a:prstGeom prst="rect">
            <a:avLst/>
          </a:prstGeom>
        </p:spPr>
      </p:pic>
      <p:sp>
        <p:nvSpPr>
          <p:cNvPr id="69" name="Text 58"/>
          <p:cNvSpPr txBox="1"/>
          <p:nvPr/>
        </p:nvSpPr>
        <p:spPr>
          <a:xfrm>
            <a:off x="8890711" y="3570494"/>
            <a:ext cx="2056486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Propensity Score </a:t>
            </a:r>
          </a:p>
          <a:p>
            <a:pPr marL="0" indent="0" algn="ctr">
              <a:buNone/>
            </a:pPr>
            <a:r>
              <a:rPr lang="en-US" sz="1600" b="1" dirty="0" err="1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산출</a:t>
            </a:r>
            <a:endParaRPr lang="en-US" sz="1600" dirty="0"/>
          </a:p>
        </p:txBody>
      </p:sp>
      <p:sp>
        <p:nvSpPr>
          <p:cNvPr id="70" name="Shape 59"/>
          <p:cNvSpPr/>
          <p:nvPr/>
        </p:nvSpPr>
        <p:spPr>
          <a:xfrm>
            <a:off x="8639251" y="4170340"/>
            <a:ext cx="2553005" cy="1133856"/>
          </a:xfrm>
          <a:prstGeom prst="roundRect">
            <a:avLst>
              <a:gd name="adj" fmla="val 16265"/>
            </a:avLst>
          </a:prstGeom>
          <a:solidFill>
            <a:srgbClr val="FFFFFF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" name="Text 60"/>
          <p:cNvSpPr txBox="1"/>
          <p:nvPr/>
        </p:nvSpPr>
        <p:spPr>
          <a:xfrm>
            <a:off x="8801100" y="4370594"/>
            <a:ext cx="2229307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478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유저별 광고형 요금제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2F6B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선호 확률값 도출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478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약 2,000명 설문 데이터 기반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61695" y="1450000"/>
            <a:ext cx="886054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Input (X)</a:t>
            </a:r>
          </a:p>
        </p:txBody>
      </p:sp>
      <p:sp>
        <p:nvSpPr>
          <p:cNvPr id="12" name="Shape 10"/>
          <p:cNvSpPr/>
          <p:nvPr/>
        </p:nvSpPr>
        <p:spPr>
          <a:xfrm>
            <a:off x="761695" y="1831305"/>
            <a:ext cx="4038905" cy="19202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>
                <a:alpha val="0"/>
              </a:srgbClr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300" name="TableBox_300"/>
          <p:cNvSpPr/>
          <p:nvPr/>
        </p:nvSpPr>
        <p:spPr>
          <a:xfrm>
            <a:off x="789479" y="1885149"/>
            <a:ext cx="1960000" cy="1370000"/>
          </a:xfrm>
          <a:prstGeom prst="roundRect">
            <a:avLst>
              <a:gd name="adj" fmla="val 10808"/>
            </a:avLst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301" name="TableLabel_301"/>
          <p:cNvSpPr txBox="1"/>
          <p:nvPr/>
        </p:nvSpPr>
        <p:spPr>
          <a:xfrm>
            <a:off x="847012" y="1894480"/>
            <a:ext cx="192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</a:rPr>
              <a:t>USERS</a:t>
            </a:r>
          </a:p>
        </p:txBody>
      </p:sp>
      <p:sp>
        <p:nvSpPr>
          <p:cNvPr id="310" name="ColBox_300_0"/>
          <p:cNvSpPr/>
          <p:nvPr/>
        </p:nvSpPr>
        <p:spPr>
          <a:xfrm>
            <a:off x="791695" y="2190149"/>
            <a:ext cx="960000" cy="230000"/>
          </a:xfrm>
          <a:prstGeom prst="roundRect">
            <a:avLst>
              <a:gd name="adj" fmla="val 9393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320" name="ColText_300_0"/>
          <p:cNvSpPr txBox="1"/>
          <p:nvPr/>
        </p:nvSpPr>
        <p:spPr>
          <a:xfrm>
            <a:off x="791695" y="2190149"/>
            <a:ext cx="960000" cy="230000"/>
          </a:xfrm>
          <a:prstGeom prst="rect">
            <a:avLst/>
          </a:prstGeom>
          <a:noFill/>
          <a:ln/>
        </p:spPr>
        <p:txBody>
          <a:bodyPr wrap="square" lIns="57150" tIns="0" rIns="57150" bIns="0" rtlCol="0" anchor="ctr"/>
          <a:lstStyle/>
          <a:p>
            <a:pPr marL="0" indent="0" algn="ctr">
              <a:buNone/>
            </a:pPr>
            <a:r>
              <a:rPr lang="ko-KR" altLang="en-US" sz="8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성별</a:t>
            </a:r>
          </a:p>
        </p:txBody>
      </p:sp>
      <p:sp>
        <p:nvSpPr>
          <p:cNvPr id="311" name="ColBox_300_1"/>
          <p:cNvSpPr/>
          <p:nvPr/>
        </p:nvSpPr>
        <p:spPr>
          <a:xfrm>
            <a:off x="1766695" y="2190149"/>
            <a:ext cx="960000" cy="230000"/>
          </a:xfrm>
          <a:prstGeom prst="roundRect">
            <a:avLst>
              <a:gd name="adj" fmla="val 9393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321" name="ColText_300_1"/>
          <p:cNvSpPr txBox="1"/>
          <p:nvPr/>
        </p:nvSpPr>
        <p:spPr>
          <a:xfrm>
            <a:off x="1766695" y="2190149"/>
            <a:ext cx="960000" cy="230000"/>
          </a:xfrm>
          <a:prstGeom prst="rect">
            <a:avLst/>
          </a:prstGeom>
          <a:noFill/>
          <a:ln/>
        </p:spPr>
        <p:txBody>
          <a:bodyPr wrap="square" lIns="57150" tIns="0" rIns="57150" bIns="0" rtlCol="0" anchor="ctr"/>
          <a:lstStyle/>
          <a:p>
            <a:pPr marL="0" indent="0" algn="ctr">
              <a:buNone/>
            </a:pPr>
            <a:r>
              <a:rPr lang="ko-KR" altLang="en-US" sz="8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연령대</a:t>
            </a:r>
          </a:p>
        </p:txBody>
      </p:sp>
      <p:sp>
        <p:nvSpPr>
          <p:cNvPr id="340" name="TableBox_340"/>
          <p:cNvSpPr/>
          <p:nvPr/>
        </p:nvSpPr>
        <p:spPr>
          <a:xfrm>
            <a:off x="2780600" y="1870148"/>
            <a:ext cx="1960000" cy="1372481"/>
          </a:xfrm>
          <a:prstGeom prst="roundRect">
            <a:avLst>
              <a:gd name="adj" fmla="val 10808"/>
            </a:avLst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341" name="TableLabel_341"/>
          <p:cNvSpPr txBox="1"/>
          <p:nvPr/>
        </p:nvSpPr>
        <p:spPr>
          <a:xfrm>
            <a:off x="2800600" y="1885149"/>
            <a:ext cx="192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5803D"/>
                </a:solidFill>
                <a:latin typeface="Noto Sans KR" pitchFamily="34" charset="0"/>
                <a:ea typeface="Noto Sans KR" pitchFamily="34" charset="-122"/>
              </a:rPr>
              <a:t>ECONOMY_INFO</a:t>
            </a:r>
          </a:p>
        </p:txBody>
      </p:sp>
      <p:sp>
        <p:nvSpPr>
          <p:cNvPr id="350" name="ColBox_340_0"/>
          <p:cNvSpPr/>
          <p:nvPr/>
        </p:nvSpPr>
        <p:spPr>
          <a:xfrm>
            <a:off x="2810600" y="2190149"/>
            <a:ext cx="960000" cy="230000"/>
          </a:xfrm>
          <a:prstGeom prst="roundRect">
            <a:avLst>
              <a:gd name="adj" fmla="val 9393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360" name="ColText_340_0"/>
          <p:cNvSpPr txBox="1"/>
          <p:nvPr/>
        </p:nvSpPr>
        <p:spPr>
          <a:xfrm>
            <a:off x="2810600" y="2190149"/>
            <a:ext cx="960000" cy="230000"/>
          </a:xfrm>
          <a:prstGeom prst="rect">
            <a:avLst/>
          </a:prstGeom>
          <a:noFill/>
          <a:ln/>
        </p:spPr>
        <p:txBody>
          <a:bodyPr wrap="square" lIns="57150" tIns="0" rIns="57150" bIns="0" rtlCol="0" anchor="ctr"/>
          <a:lstStyle/>
          <a:p>
            <a:pPr marL="0" indent="0" algn="ctr">
              <a:buNone/>
            </a:pPr>
            <a:r>
              <a:rPr lang="ko-KR" altLang="en-US" sz="8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가구 소득</a:t>
            </a:r>
          </a:p>
        </p:txBody>
      </p:sp>
      <p:sp>
        <p:nvSpPr>
          <p:cNvPr id="351" name="ColBox_340_1"/>
          <p:cNvSpPr/>
          <p:nvPr/>
        </p:nvSpPr>
        <p:spPr>
          <a:xfrm>
            <a:off x="3785600" y="2190149"/>
            <a:ext cx="960000" cy="230000"/>
          </a:xfrm>
          <a:prstGeom prst="roundRect">
            <a:avLst>
              <a:gd name="adj" fmla="val 9393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361" name="ColText_340_1"/>
          <p:cNvSpPr txBox="1"/>
          <p:nvPr/>
        </p:nvSpPr>
        <p:spPr>
          <a:xfrm>
            <a:off x="3785600" y="2190149"/>
            <a:ext cx="960000" cy="230000"/>
          </a:xfrm>
          <a:prstGeom prst="rect">
            <a:avLst/>
          </a:prstGeom>
          <a:noFill/>
          <a:ln/>
        </p:spPr>
        <p:txBody>
          <a:bodyPr wrap="square" lIns="57150" tIns="0" rIns="57150" bIns="0" rtlCol="0" anchor="ctr"/>
          <a:lstStyle/>
          <a:p>
            <a:pPr marL="0" indent="0" algn="ctr">
              <a:buNone/>
            </a:pPr>
            <a:r>
              <a:rPr lang="ko-KR" altLang="en-US" sz="8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가구원 수</a:t>
            </a:r>
          </a:p>
        </p:txBody>
      </p:sp>
      <p:sp>
        <p:nvSpPr>
          <p:cNvPr id="380" name="TableBox_380"/>
          <p:cNvSpPr/>
          <p:nvPr/>
        </p:nvSpPr>
        <p:spPr>
          <a:xfrm>
            <a:off x="780696" y="3255148"/>
            <a:ext cx="1960000" cy="1331725"/>
          </a:xfrm>
          <a:prstGeom prst="roundRect">
            <a:avLst>
              <a:gd name="adj" fmla="val 10808"/>
            </a:avLst>
          </a:prstGeom>
          <a:solidFill>
            <a:srgbClr val="FFF7ED"/>
          </a:solidFill>
          <a:ln w="12700">
            <a:solidFill>
              <a:srgbClr val="FED7AA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381" name="TableLabel_381"/>
          <p:cNvSpPr txBox="1"/>
          <p:nvPr/>
        </p:nvSpPr>
        <p:spPr>
          <a:xfrm>
            <a:off x="820696" y="3277649"/>
            <a:ext cx="192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2410C"/>
                </a:solidFill>
                <a:latin typeface="Noto Sans KR" pitchFamily="34" charset="0"/>
                <a:ea typeface="Noto Sans KR" pitchFamily="34" charset="-122"/>
              </a:rPr>
              <a:t>USAGE_TIME</a:t>
            </a:r>
          </a:p>
        </p:txBody>
      </p:sp>
      <p:sp>
        <p:nvSpPr>
          <p:cNvPr id="420" name="TableBox_420"/>
          <p:cNvSpPr/>
          <p:nvPr/>
        </p:nvSpPr>
        <p:spPr>
          <a:xfrm>
            <a:off x="2780600" y="3254855"/>
            <a:ext cx="1960000" cy="1365064"/>
          </a:xfrm>
          <a:prstGeom prst="roundRect">
            <a:avLst>
              <a:gd name="adj" fmla="val 10808"/>
            </a:avLst>
          </a:prstGeom>
          <a:solidFill>
            <a:srgbClr val="FDF4FF"/>
          </a:solidFill>
          <a:ln w="12700">
            <a:solidFill>
              <a:srgbClr val="E9D5FF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421" name="TableLabel_421"/>
          <p:cNvSpPr txBox="1"/>
          <p:nvPr/>
        </p:nvSpPr>
        <p:spPr>
          <a:xfrm>
            <a:off x="2880600" y="3280606"/>
            <a:ext cx="192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E22CE"/>
                </a:solidFill>
                <a:latin typeface="Noto Sans KR" pitchFamily="34" charset="0"/>
                <a:ea typeface="Noto Sans KR" pitchFamily="34" charset="-122"/>
              </a:rPr>
              <a:t>CONTENT_STYLE</a:t>
            </a:r>
          </a:p>
        </p:txBody>
      </p:sp>
      <p:sp>
        <p:nvSpPr>
          <p:cNvPr id="430" name="ColBox_420_0"/>
          <p:cNvSpPr/>
          <p:nvPr/>
        </p:nvSpPr>
        <p:spPr>
          <a:xfrm>
            <a:off x="2813276" y="3566166"/>
            <a:ext cx="960000" cy="230000"/>
          </a:xfrm>
          <a:prstGeom prst="roundRect">
            <a:avLst>
              <a:gd name="adj" fmla="val 9393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431" name="ColBox_420_1"/>
          <p:cNvSpPr/>
          <p:nvPr/>
        </p:nvSpPr>
        <p:spPr>
          <a:xfrm>
            <a:off x="3767607" y="3565441"/>
            <a:ext cx="960000" cy="230000"/>
          </a:xfrm>
          <a:prstGeom prst="roundRect">
            <a:avLst>
              <a:gd name="adj" fmla="val 9393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460" name="TableBox_460"/>
          <p:cNvSpPr/>
          <p:nvPr/>
        </p:nvSpPr>
        <p:spPr>
          <a:xfrm>
            <a:off x="789479" y="4623332"/>
            <a:ext cx="1960000" cy="1324225"/>
          </a:xfrm>
          <a:prstGeom prst="roundRect">
            <a:avLst>
              <a:gd name="adj" fmla="val 10808"/>
            </a:avLst>
          </a:prstGeom>
          <a:solidFill>
            <a:srgbClr val="F0F9FF"/>
          </a:solidFill>
          <a:ln w="12700">
            <a:solidFill>
              <a:srgbClr val="BAE6FD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461" name="TableLabel_461"/>
          <p:cNvSpPr txBox="1"/>
          <p:nvPr/>
        </p:nvSpPr>
        <p:spPr>
          <a:xfrm>
            <a:off x="829019" y="4659790"/>
            <a:ext cx="192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369A1"/>
                </a:solidFill>
                <a:latin typeface="Noto Sans KR" pitchFamily="34" charset="0"/>
                <a:ea typeface="Noto Sans KR" pitchFamily="34" charset="-122"/>
              </a:rPr>
              <a:t>PLATFORM_HABIT</a:t>
            </a:r>
          </a:p>
        </p:txBody>
      </p:sp>
      <p:sp>
        <p:nvSpPr>
          <p:cNvPr id="500" name="TableBox_500"/>
          <p:cNvSpPr/>
          <p:nvPr/>
        </p:nvSpPr>
        <p:spPr>
          <a:xfrm>
            <a:off x="2749479" y="4639561"/>
            <a:ext cx="1960000" cy="1307995"/>
          </a:xfrm>
          <a:prstGeom prst="roundRect">
            <a:avLst>
              <a:gd name="adj" fmla="val 10808"/>
            </a:avLst>
          </a:prstGeom>
          <a:solidFill>
            <a:srgbClr val="FFF1F2"/>
          </a:solidFill>
          <a:ln w="12700">
            <a:solidFill>
              <a:srgbClr val="FECDD3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501" name="TableLabel_501"/>
          <p:cNvSpPr txBox="1"/>
          <p:nvPr/>
        </p:nvSpPr>
        <p:spPr>
          <a:xfrm>
            <a:off x="2780600" y="4699561"/>
            <a:ext cx="192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BE123C"/>
                </a:solidFill>
                <a:latin typeface="Noto Sans KR" pitchFamily="34" charset="0"/>
                <a:ea typeface="Noto Sans KR" pitchFamily="34" charset="-122"/>
              </a:rPr>
              <a:t>PSYCHOGRAPHIC</a:t>
            </a:r>
          </a:p>
        </p:txBody>
      </p:sp>
      <p:sp>
        <p:nvSpPr>
          <p:cNvPr id="510" name="ColBox_500_0"/>
          <p:cNvSpPr/>
          <p:nvPr/>
        </p:nvSpPr>
        <p:spPr>
          <a:xfrm>
            <a:off x="2825600" y="4979203"/>
            <a:ext cx="960000" cy="230000"/>
          </a:xfrm>
          <a:prstGeom prst="roundRect">
            <a:avLst>
              <a:gd name="adj" fmla="val 9393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511" name="ColBox_500_1"/>
          <p:cNvSpPr/>
          <p:nvPr/>
        </p:nvSpPr>
        <p:spPr>
          <a:xfrm>
            <a:off x="3756078" y="4979202"/>
            <a:ext cx="960000" cy="230000"/>
          </a:xfrm>
          <a:prstGeom prst="roundRect">
            <a:avLst>
              <a:gd name="adj" fmla="val 9393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10" name="ColBox_460_0">
            <a:extLst>
              <a:ext uri="{FF2B5EF4-FFF2-40B4-BE49-F238E27FC236}">
                <a16:creationId xmlns:a16="http://schemas.microsoft.com/office/drawing/2014/main" id="{C094CCE2-FDAD-12B8-BB5D-B5741EC6F2E8}"/>
              </a:ext>
            </a:extLst>
          </p:cNvPr>
          <p:cNvSpPr/>
          <p:nvPr/>
        </p:nvSpPr>
        <p:spPr>
          <a:xfrm>
            <a:off x="798568" y="4964556"/>
            <a:ext cx="470000" cy="230000"/>
          </a:xfrm>
          <a:prstGeom prst="roundRect">
            <a:avLst>
              <a:gd name="adj" fmla="val 9393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11" name="ColText_460_0">
            <a:extLst>
              <a:ext uri="{FF2B5EF4-FFF2-40B4-BE49-F238E27FC236}">
                <a16:creationId xmlns:a16="http://schemas.microsoft.com/office/drawing/2014/main" id="{38D8199B-419B-BB15-138B-59FAB91049AE}"/>
              </a:ext>
            </a:extLst>
          </p:cNvPr>
          <p:cNvSpPr txBox="1"/>
          <p:nvPr/>
        </p:nvSpPr>
        <p:spPr>
          <a:xfrm>
            <a:off x="798568" y="4964556"/>
            <a:ext cx="470000" cy="230000"/>
          </a:xfrm>
          <a:prstGeom prst="rect">
            <a:avLst/>
          </a:prstGeom>
          <a:noFill/>
          <a:ln/>
        </p:spPr>
        <p:txBody>
          <a:bodyPr wrap="square" lIns="57150" tIns="0" rIns="57150" bIns="0" rtlCol="0" anchor="ctr"/>
          <a:lstStyle/>
          <a:p>
            <a:pPr marL="0" indent="0" algn="ctr">
              <a:buNone/>
            </a:pPr>
            <a:r>
              <a:rPr lang="ko-KR" altLang="en-US" sz="8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검색 시청 비중</a:t>
            </a:r>
          </a:p>
        </p:txBody>
      </p:sp>
      <p:sp>
        <p:nvSpPr>
          <p:cNvPr id="14" name="ColBox_460_1">
            <a:extLst>
              <a:ext uri="{FF2B5EF4-FFF2-40B4-BE49-F238E27FC236}">
                <a16:creationId xmlns:a16="http://schemas.microsoft.com/office/drawing/2014/main" id="{D9B22204-A188-9B32-F179-BD0711E5A2E5}"/>
              </a:ext>
            </a:extLst>
          </p:cNvPr>
          <p:cNvSpPr/>
          <p:nvPr/>
        </p:nvSpPr>
        <p:spPr>
          <a:xfrm>
            <a:off x="1283568" y="4964556"/>
            <a:ext cx="470000" cy="230000"/>
          </a:xfrm>
          <a:prstGeom prst="roundRect">
            <a:avLst>
              <a:gd name="adj" fmla="val 9393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15" name="ColText_460_1">
            <a:extLst>
              <a:ext uri="{FF2B5EF4-FFF2-40B4-BE49-F238E27FC236}">
                <a16:creationId xmlns:a16="http://schemas.microsoft.com/office/drawing/2014/main" id="{814226C1-CD3A-3DEF-08AA-AE390D996761}"/>
              </a:ext>
            </a:extLst>
          </p:cNvPr>
          <p:cNvSpPr txBox="1"/>
          <p:nvPr/>
        </p:nvSpPr>
        <p:spPr>
          <a:xfrm>
            <a:off x="1283568" y="4964556"/>
            <a:ext cx="470000" cy="230000"/>
          </a:xfrm>
          <a:prstGeom prst="rect">
            <a:avLst/>
          </a:prstGeom>
          <a:noFill/>
          <a:ln/>
        </p:spPr>
        <p:txBody>
          <a:bodyPr wrap="square" lIns="57150" tIns="0" rIns="57150" bIns="0" rtlCol="0" anchor="ctr"/>
          <a:lstStyle/>
          <a:p>
            <a:pPr marL="0" indent="0" algn="ctr">
              <a:buNone/>
            </a:pPr>
            <a:r>
              <a:rPr lang="ko-KR" altLang="en-US" sz="8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추천 시청 비중</a:t>
            </a:r>
          </a:p>
        </p:txBody>
      </p:sp>
      <p:sp>
        <p:nvSpPr>
          <p:cNvPr id="16" name="ColBox_460_2">
            <a:extLst>
              <a:ext uri="{FF2B5EF4-FFF2-40B4-BE49-F238E27FC236}">
                <a16:creationId xmlns:a16="http://schemas.microsoft.com/office/drawing/2014/main" id="{31C47016-D836-0929-3BD1-EA5E70FC3616}"/>
              </a:ext>
            </a:extLst>
          </p:cNvPr>
          <p:cNvSpPr/>
          <p:nvPr/>
        </p:nvSpPr>
        <p:spPr>
          <a:xfrm>
            <a:off x="1768568" y="4964556"/>
            <a:ext cx="470000" cy="230000"/>
          </a:xfrm>
          <a:prstGeom prst="roundRect">
            <a:avLst>
              <a:gd name="adj" fmla="val 9393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17" name="ColText_460_2">
            <a:extLst>
              <a:ext uri="{FF2B5EF4-FFF2-40B4-BE49-F238E27FC236}">
                <a16:creationId xmlns:a16="http://schemas.microsoft.com/office/drawing/2014/main" id="{4A74511B-3C50-6D6B-7B4A-1D20ED80E061}"/>
              </a:ext>
            </a:extLst>
          </p:cNvPr>
          <p:cNvSpPr txBox="1"/>
          <p:nvPr/>
        </p:nvSpPr>
        <p:spPr>
          <a:xfrm>
            <a:off x="1768568" y="4964556"/>
            <a:ext cx="470000" cy="230000"/>
          </a:xfrm>
          <a:prstGeom prst="rect">
            <a:avLst/>
          </a:prstGeom>
          <a:noFill/>
          <a:ln/>
        </p:spPr>
        <p:txBody>
          <a:bodyPr wrap="square" lIns="57150" tIns="0" rIns="57150" bIns="0" rtlCol="0" anchor="ctr"/>
          <a:lstStyle/>
          <a:p>
            <a:pPr marL="0" indent="0" algn="ctr">
              <a:buNone/>
            </a:pPr>
            <a:r>
              <a:rPr lang="ko-KR" altLang="en-US" sz="8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보유 기기 대수</a:t>
            </a:r>
          </a:p>
        </p:txBody>
      </p:sp>
      <p:sp>
        <p:nvSpPr>
          <p:cNvPr id="18" name="ColBox_460_3">
            <a:extLst>
              <a:ext uri="{FF2B5EF4-FFF2-40B4-BE49-F238E27FC236}">
                <a16:creationId xmlns:a16="http://schemas.microsoft.com/office/drawing/2014/main" id="{AB01A2FA-A237-C0F3-089B-E7FAE918F0FA}"/>
              </a:ext>
            </a:extLst>
          </p:cNvPr>
          <p:cNvSpPr/>
          <p:nvPr/>
        </p:nvSpPr>
        <p:spPr>
          <a:xfrm>
            <a:off x="2253568" y="4964556"/>
            <a:ext cx="470000" cy="230000"/>
          </a:xfrm>
          <a:prstGeom prst="roundRect">
            <a:avLst>
              <a:gd name="adj" fmla="val 9393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19" name="ColText_460_3">
            <a:extLst>
              <a:ext uri="{FF2B5EF4-FFF2-40B4-BE49-F238E27FC236}">
                <a16:creationId xmlns:a16="http://schemas.microsoft.com/office/drawing/2014/main" id="{35798907-A7B6-42EC-C041-BA117FB55B37}"/>
              </a:ext>
            </a:extLst>
          </p:cNvPr>
          <p:cNvSpPr txBox="1"/>
          <p:nvPr/>
        </p:nvSpPr>
        <p:spPr>
          <a:xfrm>
            <a:off x="2253568" y="4964556"/>
            <a:ext cx="470000" cy="230000"/>
          </a:xfrm>
          <a:prstGeom prst="rect">
            <a:avLst/>
          </a:prstGeom>
          <a:noFill/>
          <a:ln/>
        </p:spPr>
        <p:txBody>
          <a:bodyPr wrap="square" lIns="57150" tIns="0" rIns="57150" bIns="0" rtlCol="0" anchor="ctr"/>
          <a:lstStyle/>
          <a:p>
            <a:pPr marL="0" indent="0" algn="ctr">
              <a:buNone/>
            </a:pPr>
            <a:r>
              <a:rPr lang="ko-KR" altLang="en-US" sz="8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주 이용 시간대</a:t>
            </a:r>
          </a:p>
        </p:txBody>
      </p:sp>
      <p:sp>
        <p:nvSpPr>
          <p:cNvPr id="20" name="ColBox_380_0">
            <a:extLst>
              <a:ext uri="{FF2B5EF4-FFF2-40B4-BE49-F238E27FC236}">
                <a16:creationId xmlns:a16="http://schemas.microsoft.com/office/drawing/2014/main" id="{D7E2AA1B-FD37-E43A-BE5E-6F052D9F3991}"/>
              </a:ext>
            </a:extLst>
          </p:cNvPr>
          <p:cNvSpPr/>
          <p:nvPr/>
        </p:nvSpPr>
        <p:spPr>
          <a:xfrm>
            <a:off x="791695" y="3584639"/>
            <a:ext cx="960000" cy="230000"/>
          </a:xfrm>
          <a:prstGeom prst="roundRect">
            <a:avLst>
              <a:gd name="adj" fmla="val 9393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21" name="ColText_380_0">
            <a:extLst>
              <a:ext uri="{FF2B5EF4-FFF2-40B4-BE49-F238E27FC236}">
                <a16:creationId xmlns:a16="http://schemas.microsoft.com/office/drawing/2014/main" id="{4E273091-7F58-C6F1-5658-D28E1DB6DFDA}"/>
              </a:ext>
            </a:extLst>
          </p:cNvPr>
          <p:cNvSpPr txBox="1"/>
          <p:nvPr/>
        </p:nvSpPr>
        <p:spPr>
          <a:xfrm>
            <a:off x="791695" y="3584639"/>
            <a:ext cx="960000" cy="230000"/>
          </a:xfrm>
          <a:prstGeom prst="rect">
            <a:avLst/>
          </a:prstGeom>
          <a:noFill/>
          <a:ln/>
        </p:spPr>
        <p:txBody>
          <a:bodyPr wrap="square" lIns="57150" tIns="0" rIns="57150" bIns="0" rtlCol="0" anchor="ctr"/>
          <a:lstStyle/>
          <a:p>
            <a:pPr marL="0" indent="0" algn="ctr">
              <a:buNone/>
            </a:pPr>
            <a:r>
              <a:rPr lang="ko-KR" altLang="en-US" sz="8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주중 이용 시간</a:t>
            </a:r>
          </a:p>
        </p:txBody>
      </p:sp>
      <p:sp>
        <p:nvSpPr>
          <p:cNvPr id="22" name="ColBox_380_1">
            <a:extLst>
              <a:ext uri="{FF2B5EF4-FFF2-40B4-BE49-F238E27FC236}">
                <a16:creationId xmlns:a16="http://schemas.microsoft.com/office/drawing/2014/main" id="{9C555930-DFA0-F5A7-56B1-3ECB92AAE7D3}"/>
              </a:ext>
            </a:extLst>
          </p:cNvPr>
          <p:cNvSpPr/>
          <p:nvPr/>
        </p:nvSpPr>
        <p:spPr>
          <a:xfrm>
            <a:off x="1766695" y="3584639"/>
            <a:ext cx="960000" cy="230000"/>
          </a:xfrm>
          <a:prstGeom prst="roundRect">
            <a:avLst>
              <a:gd name="adj" fmla="val 9393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23" name="ColText_380_1">
            <a:extLst>
              <a:ext uri="{FF2B5EF4-FFF2-40B4-BE49-F238E27FC236}">
                <a16:creationId xmlns:a16="http://schemas.microsoft.com/office/drawing/2014/main" id="{E53E6FF3-5169-7A2A-C8DC-F926091E17A4}"/>
              </a:ext>
            </a:extLst>
          </p:cNvPr>
          <p:cNvSpPr txBox="1"/>
          <p:nvPr/>
        </p:nvSpPr>
        <p:spPr>
          <a:xfrm>
            <a:off x="1766695" y="3584639"/>
            <a:ext cx="960000" cy="230000"/>
          </a:xfrm>
          <a:prstGeom prst="rect">
            <a:avLst/>
          </a:prstGeom>
          <a:noFill/>
          <a:ln/>
        </p:spPr>
        <p:txBody>
          <a:bodyPr wrap="square" lIns="57150" tIns="0" rIns="57150" bIns="0" rtlCol="0" anchor="ctr"/>
          <a:lstStyle/>
          <a:p>
            <a:pPr marL="0" indent="0" algn="ctr">
              <a:buNone/>
            </a:pPr>
            <a:r>
              <a:rPr lang="ko-KR" altLang="en-US" sz="8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주말 이용 시간</a:t>
            </a:r>
          </a:p>
        </p:txBody>
      </p:sp>
      <p:sp>
        <p:nvSpPr>
          <p:cNvPr id="24" name="ColText_500_0">
            <a:extLst>
              <a:ext uri="{FF2B5EF4-FFF2-40B4-BE49-F238E27FC236}">
                <a16:creationId xmlns:a16="http://schemas.microsoft.com/office/drawing/2014/main" id="{A2F18DE8-0F83-8486-31EF-599BD4A83A7D}"/>
              </a:ext>
            </a:extLst>
          </p:cNvPr>
          <p:cNvSpPr txBox="1"/>
          <p:nvPr/>
        </p:nvSpPr>
        <p:spPr>
          <a:xfrm>
            <a:off x="2800600" y="4995785"/>
            <a:ext cx="960000" cy="230000"/>
          </a:xfrm>
          <a:prstGeom prst="rect">
            <a:avLst/>
          </a:prstGeom>
          <a:noFill/>
          <a:ln/>
        </p:spPr>
        <p:txBody>
          <a:bodyPr wrap="square" lIns="57150" tIns="0" rIns="57150" bIns="0" rtlCol="0" anchor="ctr"/>
          <a:lstStyle/>
          <a:p>
            <a:pPr marL="0" indent="0" algn="ctr">
              <a:buNone/>
            </a:pPr>
            <a:r>
              <a:rPr lang="ko-KR" altLang="en-US" sz="8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광고 거부감</a:t>
            </a:r>
          </a:p>
        </p:txBody>
      </p:sp>
      <p:sp>
        <p:nvSpPr>
          <p:cNvPr id="25" name="ColText_500_1">
            <a:extLst>
              <a:ext uri="{FF2B5EF4-FFF2-40B4-BE49-F238E27FC236}">
                <a16:creationId xmlns:a16="http://schemas.microsoft.com/office/drawing/2014/main" id="{E17C786F-A597-3173-4613-DCB32D4A101F}"/>
              </a:ext>
            </a:extLst>
          </p:cNvPr>
          <p:cNvSpPr txBox="1"/>
          <p:nvPr/>
        </p:nvSpPr>
        <p:spPr>
          <a:xfrm>
            <a:off x="3755040" y="4971455"/>
            <a:ext cx="960000" cy="230000"/>
          </a:xfrm>
          <a:prstGeom prst="rect">
            <a:avLst/>
          </a:prstGeom>
          <a:noFill/>
          <a:ln/>
        </p:spPr>
        <p:txBody>
          <a:bodyPr wrap="square" lIns="57150" tIns="0" rIns="57150" bIns="0" rtlCol="0" anchor="ctr"/>
          <a:lstStyle/>
          <a:p>
            <a:pPr marL="0" indent="0" algn="ctr">
              <a:buNone/>
            </a:pPr>
            <a:r>
              <a:rPr lang="ko-KR" altLang="en-US" sz="8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요금제 민감도</a:t>
            </a:r>
          </a:p>
        </p:txBody>
      </p:sp>
      <p:sp>
        <p:nvSpPr>
          <p:cNvPr id="26" name="ColText_420_1">
            <a:extLst>
              <a:ext uri="{FF2B5EF4-FFF2-40B4-BE49-F238E27FC236}">
                <a16:creationId xmlns:a16="http://schemas.microsoft.com/office/drawing/2014/main" id="{B467F0C5-D2E6-D34B-D4FC-967A3ED51EF8}"/>
              </a:ext>
            </a:extLst>
          </p:cNvPr>
          <p:cNvSpPr txBox="1"/>
          <p:nvPr/>
        </p:nvSpPr>
        <p:spPr>
          <a:xfrm>
            <a:off x="3733945" y="3574656"/>
            <a:ext cx="960000" cy="230000"/>
          </a:xfrm>
          <a:prstGeom prst="rect">
            <a:avLst/>
          </a:prstGeom>
          <a:noFill/>
          <a:ln/>
        </p:spPr>
        <p:txBody>
          <a:bodyPr wrap="square" lIns="57150" tIns="0" rIns="57150" bIns="0" rtlCol="0" anchor="ctr"/>
          <a:lstStyle/>
          <a:p>
            <a:pPr marL="0" indent="0" algn="ctr">
              <a:buNone/>
            </a:pPr>
            <a:r>
              <a:rPr lang="ko-KR" altLang="en-US" sz="8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몰아보기 선호도</a:t>
            </a:r>
          </a:p>
        </p:txBody>
      </p:sp>
      <p:sp>
        <p:nvSpPr>
          <p:cNvPr id="27" name="ColText_420_0">
            <a:extLst>
              <a:ext uri="{FF2B5EF4-FFF2-40B4-BE49-F238E27FC236}">
                <a16:creationId xmlns:a16="http://schemas.microsoft.com/office/drawing/2014/main" id="{E50BD449-1F26-294A-0854-1C8DBDEC752D}"/>
              </a:ext>
            </a:extLst>
          </p:cNvPr>
          <p:cNvSpPr txBox="1"/>
          <p:nvPr/>
        </p:nvSpPr>
        <p:spPr>
          <a:xfrm>
            <a:off x="2775952" y="3584639"/>
            <a:ext cx="960000" cy="230000"/>
          </a:xfrm>
          <a:prstGeom prst="rect">
            <a:avLst/>
          </a:prstGeom>
          <a:noFill/>
          <a:ln/>
        </p:spPr>
        <p:txBody>
          <a:bodyPr wrap="square" lIns="57150" tIns="0" rIns="57150" bIns="0" rtlCol="0" anchor="ctr"/>
          <a:lstStyle/>
          <a:p>
            <a:pPr marL="0" indent="0" algn="ctr">
              <a:buNone/>
            </a:pPr>
            <a:r>
              <a:rPr lang="ko-KR" altLang="en-US" sz="8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오리지널 선호도</a:t>
            </a:r>
          </a:p>
        </p:txBody>
      </p:sp>
      <p:sp>
        <p:nvSpPr>
          <p:cNvPr id="3" name="SubTitle_BG"/>
          <p:cNvSpPr/>
          <p:nvPr/>
        </p:nvSpPr>
        <p:spPr>
          <a:xfrm>
            <a:off x="457200" y="1070000"/>
            <a:ext cx="2500000" cy="310000"/>
          </a:xfrm>
          <a:prstGeom prst="roundRect">
            <a:avLst>
              <a:gd name="adj" fmla="val 137500"/>
            </a:avLst>
          </a:prstGeom>
          <a:solidFill>
            <a:srgbClr val="F5F3FF"/>
          </a:solidFill>
          <a:ln w="19050">
            <a:solidFill>
              <a:srgbClr val="DDD6FE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8" name="SubTitle_Text"/>
          <p:cNvSpPr txBox="1"/>
          <p:nvPr/>
        </p:nvSpPr>
        <p:spPr>
          <a:xfrm>
            <a:off x="457200" y="1070000"/>
            <a:ext cx="2500000" cy="310000"/>
          </a:xfrm>
          <a:prstGeom prst="rect">
            <a:avLst/>
          </a:prstGeom>
          <a:noFill/>
          <a:ln/>
        </p:spPr>
        <p:txBody>
          <a:bodyPr wrap="square" lIns="114300" tIns="45720" rIns="114300" bIns="45720" rtlCol="0" anchor="ctr"/>
          <a:lstStyle/>
          <a:p>
            <a:pPr algn="l">
              <a:buNone/>
            </a:pPr>
            <a:r>
              <a:rPr lang="ko-KR" altLang="en-US" sz="1600" b="1" dirty="0">
                <a:solidFill>
                  <a:srgbClr val="7C3AED"/>
                </a:solidFill>
                <a:latin typeface="Noto Sans KR" pitchFamily="34" charset="0"/>
                <a:ea typeface="Noto Sans KR" pitchFamily="34" charset="-122"/>
              </a:rPr>
              <a:t>머신러닝 모델 설계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761695" y="1181405"/>
            <a:ext cx="1066830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Header_Bar"/>
          <p:cNvPicPr>
            <a:picLocks noChangeAspect="1"/>
          </p:cNvPicPr>
          <p:nvPr/>
        </p:nvPicPr>
        <p:blipFill>
          <a:blip r:embed="rId2"/>
          <a:srcRect l="-450" r="-450"/>
          <a:stretch/>
        </p:blipFill>
        <p:spPr>
          <a:xfrm>
            <a:off x="609905" y="476402"/>
            <a:ext cx="38405" cy="304495"/>
          </a:xfrm>
          <a:prstGeom prst="rect">
            <a:avLst/>
          </a:prstGeom>
        </p:spPr>
      </p:pic>
      <p:sp>
        <p:nvSpPr>
          <p:cNvPr id="6" name="Header_Label"/>
          <p:cNvSpPr txBox="1"/>
          <p:nvPr/>
        </p:nvSpPr>
        <p:spPr>
          <a:xfrm>
            <a:off x="800100" y="457200"/>
            <a:ext cx="110185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kumimoji="0" lang="en-US" sz="1800" b="1" i="0" u="none" strike="noStrike" kern="0" cap="none" spc="-36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 목표</a:t>
            </a:r>
          </a:p>
        </p:txBody>
      </p:sp>
      <p:sp>
        <p:nvSpPr>
          <p:cNvPr id="100" name="Subtitle"/>
          <p:cNvSpPr txBox="1"/>
          <p:nvPr/>
        </p:nvSpPr>
        <p:spPr>
          <a:xfrm>
            <a:off x="609905" y="8000000"/>
            <a:ext cx="1100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buNone/>
            </a:pPr>
            <a:r>
              <a:rPr lang="ko-KR" altLang="en-US" sz="1200" b="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</a:rPr>
              <a:t>ML 예측값(Propensity Score)을 활용한 마케팅 타겟 최적화 시뮬레이션</a:t>
            </a:r>
          </a:p>
        </p:txBody>
      </p:sp>
      <p:sp>
        <p:nvSpPr>
          <p:cNvPr id="101" name="Step1_BG"/>
          <p:cNvSpPr/>
          <p:nvPr/>
        </p:nvSpPr>
        <p:spPr>
          <a:xfrm>
            <a:off x="457200" y="1795247"/>
            <a:ext cx="3200000" cy="3300000"/>
          </a:xfrm>
          <a:prstGeom prst="roundRect">
            <a:avLst>
              <a:gd name="adj" fmla="val 10000"/>
            </a:avLst>
          </a:prstGeom>
          <a:solidFill>
            <a:srgbClr val="F5F3FF"/>
          </a:solidFill>
          <a:ln w="19050">
            <a:solidFill>
              <a:srgbClr val="DDD6FE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103" name="Step1_num"/>
          <p:cNvSpPr txBox="1"/>
          <p:nvPr/>
        </p:nvSpPr>
        <p:spPr>
          <a:xfrm>
            <a:off x="647200" y="1925247"/>
            <a:ext cx="282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buNone/>
            </a:pPr>
            <a:r>
              <a:rPr lang="en-US" sz="1200" b="1" dirty="0">
                <a:solidFill>
                  <a:srgbClr val="7C3AED"/>
                </a:solidFill>
                <a:latin typeface="Noto Sans KR" pitchFamily="34" charset="0"/>
              </a:rPr>
              <a:t>STEP 01</a:t>
            </a:r>
          </a:p>
        </p:txBody>
      </p:sp>
      <p:sp>
        <p:nvSpPr>
          <p:cNvPr id="104" name="Step1_title"/>
          <p:cNvSpPr txBox="1"/>
          <p:nvPr/>
        </p:nvSpPr>
        <p:spPr>
          <a:xfrm>
            <a:off x="647200" y="2215247"/>
            <a:ext cx="282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buNone/>
            </a:pPr>
            <a:r>
              <a:rPr lang="ko-KR" alt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</a:rPr>
              <a:t>임계값 설정</a:t>
            </a:r>
          </a:p>
        </p:txBody>
      </p:sp>
      <p:sp>
        <p:nvSpPr>
          <p:cNvPr id="105" name="Step1_desc"/>
          <p:cNvSpPr txBox="1"/>
          <p:nvPr/>
        </p:nvSpPr>
        <p:spPr>
          <a:xfrm>
            <a:off x="647200" y="2625247"/>
            <a:ext cx="2820000" cy="1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buNone/>
            </a:pPr>
            <a:r>
              <a:rPr lang="ko-KR" altLang="en-US" sz="1300" b="1" dirty="0">
                <a:solidFill>
                  <a:srgbClr val="5B21B6"/>
                </a:solidFill>
                <a:latin typeface="Noto Sans KR" pitchFamily="34" charset="0"/>
                <a:ea typeface="Noto Sans KR" pitchFamily="34" charset="-122"/>
              </a:rPr>
              <a:t>Threshold Slider</a:t>
            </a:r>
          </a:p>
          <a:p>
            <a:pPr algn="l">
              <a:buNone/>
            </a:pPr>
            <a:endParaRPr lang="ko-KR"/>
          </a:p>
          <a:p>
            <a:pPr algn="l">
              <a:buNone/>
            </a:pPr>
            <a:r>
              <a:rPr lang="ko-KR" altLang="en-US" sz="1200" b="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마케터가 상위 N%</a:t>
            </a:r>
          </a:p>
          <a:p>
            <a:pPr algn="l">
              <a:buNone/>
            </a:pPr>
            <a:r>
              <a:rPr lang="ko-KR" altLang="en-US" sz="1200" b="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구간을 직접 설정.</a:t>
            </a:r>
          </a:p>
          <a:p>
            <a:pPr algn="l">
              <a:buNone/>
            </a:pPr>
            <a:r>
              <a:rPr lang="ko-KR" altLang="en-US" sz="1200" b="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ML 예측 임계값을</a:t>
            </a:r>
          </a:p>
          <a:p>
            <a:pPr algn="l">
              <a:buNone/>
            </a:pPr>
            <a:r>
              <a:rPr lang="ko-KR" altLang="en-US" sz="1200" b="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실시간으로 제어.</a:t>
            </a:r>
          </a:p>
        </p:txBody>
      </p:sp>
      <p:sp>
        <p:nvSpPr>
          <p:cNvPr id="106" name="Step1_tag"/>
          <p:cNvSpPr/>
          <p:nvPr/>
        </p:nvSpPr>
        <p:spPr>
          <a:xfrm>
            <a:off x="647200" y="4125247"/>
            <a:ext cx="1300000" cy="230000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</p:spPr>
        <p:txBody>
          <a:bodyPr lIns="91440" tIns="45720" rIns="91440" bIns="45720" anchor="ctr"/>
          <a:lstStyle/>
          <a:p>
            <a:pPr algn="ctr">
              <a:buNone/>
            </a:pPr>
            <a:r>
              <a:rPr lang="en-US" sz="1000" b="1" dirty="0">
                <a:solidFill>
                  <a:srgbClr val="7C3AED"/>
                </a:solidFill>
                <a:latin typeface="Noto Sans KR" pitchFamily="34" charset="0"/>
              </a:rPr>
              <a:t>Interactive UI</a:t>
            </a:r>
          </a:p>
        </p:txBody>
      </p:sp>
      <p:sp>
        <p:nvSpPr>
          <p:cNvPr id="110" name="Arrow1"/>
          <p:cNvSpPr/>
          <p:nvPr/>
        </p:nvSpPr>
        <p:spPr>
          <a:xfrm>
            <a:off x="3800000" y="3345247"/>
            <a:ext cx="609600" cy="457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A78BFA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111" name="Step2_BG"/>
          <p:cNvSpPr/>
          <p:nvPr/>
        </p:nvSpPr>
        <p:spPr>
          <a:xfrm>
            <a:off x="4571400" y="1795247"/>
            <a:ext cx="3200000" cy="3300000"/>
          </a:xfrm>
          <a:prstGeom prst="roundRect">
            <a:avLst>
              <a:gd name="adj" fmla="val 10000"/>
            </a:avLst>
          </a:prstGeom>
          <a:solidFill>
            <a:srgbClr val="ECFDF5"/>
          </a:solidFill>
          <a:ln w="19050">
            <a:solidFill>
              <a:srgbClr val="A7F3D0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113" name="Step2_num"/>
          <p:cNvSpPr txBox="1"/>
          <p:nvPr/>
        </p:nvSpPr>
        <p:spPr>
          <a:xfrm>
            <a:off x="4761400" y="1925247"/>
            <a:ext cx="282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buNone/>
            </a:pPr>
            <a:r>
              <a:rPr lang="en-US" sz="1200" b="1" dirty="0">
                <a:solidFill>
                  <a:srgbClr val="047857"/>
                </a:solidFill>
                <a:latin typeface="Noto Sans KR" pitchFamily="34" charset="0"/>
              </a:rPr>
              <a:t>STEP 02</a:t>
            </a:r>
          </a:p>
        </p:txBody>
      </p:sp>
      <p:sp>
        <p:nvSpPr>
          <p:cNvPr id="114" name="Step2_title"/>
          <p:cNvSpPr txBox="1"/>
          <p:nvPr/>
        </p:nvSpPr>
        <p:spPr>
          <a:xfrm>
            <a:off x="4761400" y="2215247"/>
            <a:ext cx="282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buNone/>
            </a:pPr>
            <a:r>
              <a:rPr lang="ko-KR" alt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</a:rPr>
              <a:t>점수 정렬 및 산출</a:t>
            </a:r>
          </a:p>
        </p:txBody>
      </p:sp>
      <p:sp>
        <p:nvSpPr>
          <p:cNvPr id="115" name="Step2_desc"/>
          <p:cNvSpPr txBox="1"/>
          <p:nvPr/>
        </p:nvSpPr>
        <p:spPr>
          <a:xfrm>
            <a:off x="4761400" y="2625247"/>
            <a:ext cx="2820000" cy="1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buNone/>
            </a:pPr>
            <a:r>
              <a:rPr lang="ko-KR" altLang="en-US" sz="1300" b="1" dirty="0">
                <a:solidFill>
                  <a:srgbClr val="047857"/>
                </a:solidFill>
                <a:latin typeface="Noto Sans KR" pitchFamily="34" charset="0"/>
                <a:ea typeface="Noto Sans KR" pitchFamily="34" charset="-122"/>
              </a:rPr>
              <a:t>Ranking &amp; Scoring</a:t>
            </a:r>
          </a:p>
          <a:p>
            <a:pPr algn="l">
              <a:buNone/>
            </a:pPr>
            <a:endParaRPr lang="ko-KR"/>
          </a:p>
          <a:p>
            <a:pPr algn="l">
              <a:buNone/>
            </a:pPr>
            <a:r>
              <a:rPr lang="ko-KR" altLang="en-US" sz="1200" b="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전 유저 선호 점수</a:t>
            </a:r>
          </a:p>
          <a:p>
            <a:pPr algn="l">
              <a:buNone/>
            </a:pPr>
            <a:r>
              <a:rPr lang="ko-KR" altLang="en-US" sz="1200" b="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내림차순 정렬.</a:t>
            </a:r>
          </a:p>
          <a:p>
            <a:pPr algn="l">
              <a:buNone/>
            </a:pPr>
            <a:r>
              <a:rPr lang="ko-KR" altLang="en-US" sz="1200" b="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N% 구간 타겟 인원 수</a:t>
            </a:r>
          </a:p>
          <a:p>
            <a:pPr algn="l">
              <a:buNone/>
            </a:pPr>
            <a:r>
              <a:rPr lang="ko-KR" altLang="en-US" sz="1200" b="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즉각 산출.</a:t>
            </a:r>
          </a:p>
        </p:txBody>
      </p:sp>
      <p:sp>
        <p:nvSpPr>
          <p:cNvPr id="116" name="Step2_tag"/>
          <p:cNvSpPr/>
          <p:nvPr/>
        </p:nvSpPr>
        <p:spPr>
          <a:xfrm>
            <a:off x="4761400" y="4125247"/>
            <a:ext cx="1300000" cy="230000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>
            <a:noFill/>
          </a:ln>
        </p:spPr>
        <p:txBody>
          <a:bodyPr lIns="91440" tIns="45720" rIns="91440" bIns="45720" anchor="ctr"/>
          <a:lstStyle/>
          <a:p>
            <a:pPr algn="ctr">
              <a:buNone/>
            </a:pPr>
            <a:r>
              <a:rPr lang="en-US" sz="1000" b="1" dirty="0">
                <a:solidFill>
                  <a:srgbClr val="047857"/>
                </a:solidFill>
                <a:latin typeface="Noto Sans KR" pitchFamily="34" charset="0"/>
              </a:rPr>
              <a:t>Real-time Calc</a:t>
            </a:r>
          </a:p>
        </p:txBody>
      </p:sp>
      <p:sp>
        <p:nvSpPr>
          <p:cNvPr id="120" name="Arrow2"/>
          <p:cNvSpPr/>
          <p:nvPr/>
        </p:nvSpPr>
        <p:spPr>
          <a:xfrm>
            <a:off x="7914000" y="3345247"/>
            <a:ext cx="609600" cy="457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0A5FA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121" name="Step3_BG"/>
          <p:cNvSpPr/>
          <p:nvPr/>
        </p:nvSpPr>
        <p:spPr>
          <a:xfrm>
            <a:off x="8685600" y="1795247"/>
            <a:ext cx="3200000" cy="330000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19050">
            <a:solidFill>
              <a:srgbClr val="BFDBFE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123" name="Step3_num"/>
          <p:cNvSpPr txBox="1"/>
          <p:nvPr/>
        </p:nvSpPr>
        <p:spPr>
          <a:xfrm>
            <a:off x="8875600" y="1925247"/>
            <a:ext cx="282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buNone/>
            </a:pPr>
            <a:r>
              <a:rPr lang="en-US" sz="1200" b="1" dirty="0">
                <a:solidFill>
                  <a:srgbClr val="1D4ED8"/>
                </a:solidFill>
                <a:latin typeface="Noto Sans KR" pitchFamily="34" charset="0"/>
              </a:rPr>
              <a:t>STEP 03</a:t>
            </a:r>
          </a:p>
        </p:txBody>
      </p:sp>
      <p:sp>
        <p:nvSpPr>
          <p:cNvPr id="124" name="Step3_title"/>
          <p:cNvSpPr txBox="1"/>
          <p:nvPr/>
        </p:nvSpPr>
        <p:spPr>
          <a:xfrm>
            <a:off x="8875600" y="2215247"/>
            <a:ext cx="282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buNone/>
            </a:pPr>
            <a:r>
              <a:rPr lang="ko-KR" alt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</a:rPr>
              <a:t>기대 효과 도출</a:t>
            </a:r>
          </a:p>
        </p:txBody>
      </p:sp>
      <p:sp>
        <p:nvSpPr>
          <p:cNvPr id="125" name="Step3_desc"/>
          <p:cNvSpPr txBox="1"/>
          <p:nvPr/>
        </p:nvSpPr>
        <p:spPr>
          <a:xfrm>
            <a:off x="8875600" y="2625247"/>
            <a:ext cx="2820000" cy="1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buNone/>
            </a:pPr>
            <a:r>
              <a:rPr lang="ko-KR" altLang="en-US" sz="13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</a:rPr>
              <a:t>Predictive Output</a:t>
            </a:r>
          </a:p>
          <a:p>
            <a:pPr algn="l">
              <a:buNone/>
            </a:pPr>
            <a:endParaRPr lang="ko-KR" dirty="0"/>
          </a:p>
          <a:p>
            <a:pPr algn="l">
              <a:buNone/>
            </a:pPr>
            <a:r>
              <a:rPr lang="ko-KR" altLang="en-US" sz="1200" b="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예상 전환 성공 확률</a:t>
            </a:r>
          </a:p>
          <a:p>
            <a:pPr algn="l">
              <a:buNone/>
            </a:pPr>
            <a:r>
              <a:rPr lang="ko-KR" altLang="en-US" sz="1200" b="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및 기대 효과를</a:t>
            </a:r>
          </a:p>
          <a:p>
            <a:pPr algn="l">
              <a:buNone/>
            </a:pPr>
            <a:r>
              <a:rPr lang="ko-KR" altLang="en-US" sz="1200" b="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수치로 제시.</a:t>
            </a:r>
          </a:p>
          <a:p>
            <a:pPr algn="l">
              <a:buNone/>
            </a:pPr>
            <a:endParaRPr lang="ko-KR" altLang="en-US" sz="1200" b="0" dirty="0">
              <a:solidFill>
                <a:srgbClr val="4B5563"/>
              </a:solidFill>
              <a:latin typeface="Noto Sans KR" pitchFamily="34" charset="0"/>
              <a:ea typeface="Noto Sans KR" pitchFamily="34" charset="-122"/>
            </a:endParaRPr>
          </a:p>
        </p:txBody>
      </p:sp>
      <p:sp>
        <p:nvSpPr>
          <p:cNvPr id="126" name="Step3_tag"/>
          <p:cNvSpPr/>
          <p:nvPr/>
        </p:nvSpPr>
        <p:spPr>
          <a:xfrm>
            <a:off x="8875600" y="4125247"/>
            <a:ext cx="1300000" cy="23000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</p:spPr>
        <p:txBody>
          <a:bodyPr lIns="91440" tIns="45720" rIns="91440" bIns="45720" anchor="ctr"/>
          <a:lstStyle/>
          <a:p>
            <a:pPr algn="ctr">
              <a:buNone/>
            </a:pPr>
            <a:r>
              <a:rPr lang="en-US" sz="1000" b="1" dirty="0">
                <a:solidFill>
                  <a:srgbClr val="1D4ED8"/>
                </a:solidFill>
                <a:latin typeface="Noto Sans KR" pitchFamily="34" charset="0"/>
              </a:rPr>
              <a:t>Marketing Tool</a:t>
            </a:r>
          </a:p>
        </p:txBody>
      </p:sp>
      <p:sp>
        <p:nvSpPr>
          <p:cNvPr id="130" name="Bottom_bar"/>
          <p:cNvSpPr/>
          <p:nvPr/>
        </p:nvSpPr>
        <p:spPr>
          <a:xfrm>
            <a:off x="457200" y="5945247"/>
            <a:ext cx="114300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00" name="Bottom_BG"/>
          <p:cNvSpPr/>
          <p:nvPr/>
        </p:nvSpPr>
        <p:spPr>
          <a:xfrm>
            <a:off x="457200" y="5395247"/>
            <a:ext cx="11430000" cy="42000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19050">
            <a:solidFill>
              <a:srgbClr val="BFDBFE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699" name="Bottom_Text"/>
          <p:cNvSpPr txBox="1"/>
          <p:nvPr/>
        </p:nvSpPr>
        <p:spPr>
          <a:xfrm>
            <a:off x="345228" y="5435247"/>
            <a:ext cx="11430000" cy="380000"/>
          </a:xfrm>
          <a:prstGeom prst="rect">
            <a:avLst/>
          </a:prstGeom>
          <a:noFill/>
          <a:ln/>
        </p:spPr>
        <p:txBody>
          <a:bodyPr wrap="square" lIns="114300" tIns="45720" rIns="114300" bIns="45720" rtlCol="0" anchor="ctr"/>
          <a:lstStyle/>
          <a:p>
            <a:pPr algn="ctr">
              <a:buNone/>
            </a:pPr>
            <a:r>
              <a:rPr lang="ko-KR" altLang="en-US" sz="15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</a:rPr>
              <a:t>슬라이더 조작 한 번으로 — 타겟 인원 수 · 전환 확률 즉각 산출</a:t>
            </a:r>
          </a:p>
        </p:txBody>
      </p:sp>
      <p:sp>
        <p:nvSpPr>
          <p:cNvPr id="500" name="SubTitle_BG"/>
          <p:cNvSpPr/>
          <p:nvPr/>
        </p:nvSpPr>
        <p:spPr>
          <a:xfrm>
            <a:off x="457200" y="1070000"/>
            <a:ext cx="2900000" cy="310000"/>
          </a:xfrm>
          <a:prstGeom prst="roundRect">
            <a:avLst>
              <a:gd name="adj" fmla="val 137500"/>
            </a:avLst>
          </a:prstGeom>
          <a:solidFill>
            <a:srgbClr val="F5F3FF"/>
          </a:solidFill>
          <a:ln w="19050">
            <a:solidFill>
              <a:srgbClr val="DDD6FE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501" name="SubTitle_Text"/>
          <p:cNvSpPr txBox="1"/>
          <p:nvPr/>
        </p:nvSpPr>
        <p:spPr>
          <a:xfrm>
            <a:off x="457200" y="1070000"/>
            <a:ext cx="2900000" cy="310000"/>
          </a:xfrm>
          <a:prstGeom prst="rect">
            <a:avLst/>
          </a:prstGeom>
          <a:noFill/>
          <a:ln/>
        </p:spPr>
        <p:txBody>
          <a:bodyPr wrap="square" lIns="114300" tIns="45720" rIns="114300" bIns="45720" rtlCol="0" anchor="ctr"/>
          <a:lstStyle/>
          <a:p>
            <a:pPr algn="l">
              <a:buNone/>
            </a:pPr>
            <a:r>
              <a:rPr lang="ko-KR" altLang="en-US" sz="1600" b="1" dirty="0">
                <a:solidFill>
                  <a:srgbClr val="7C3AED"/>
                </a:solidFill>
                <a:latin typeface="Noto Sans KR" pitchFamily="34" charset="0"/>
                <a:ea typeface="Noto Sans KR" pitchFamily="34" charset="-122"/>
              </a:rPr>
              <a:t>타겟 최적화 시뮬레이션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</TotalTime>
  <Words>302</Words>
  <Application>Microsoft Office PowerPoint</Application>
  <PresentationFormat>와이드스크린</PresentationFormat>
  <Paragraphs>100</Paragraphs>
  <Slides>5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0" baseType="lpstr">
      <vt:lpstr>Noto Sans KR</vt:lpstr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M J</cp:lastModifiedBy>
  <cp:revision>16</cp:revision>
  <dcterms:created xsi:type="dcterms:W3CDTF">2026-03-16T01:49:59Z</dcterms:created>
  <dcterms:modified xsi:type="dcterms:W3CDTF">2026-03-20T07:09:10Z</dcterms:modified>
</cp:coreProperties>
</file>