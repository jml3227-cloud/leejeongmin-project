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386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8.png"/><Relationship Id="rId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10401300" y="1255471"/>
            <a:ext cx="1276502" cy="4849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263132" y="6381140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이정민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5" y="1369771"/>
            <a:ext cx="38405" cy="400507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181405" y="1369771"/>
            <a:ext cx="102495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마케팅 담당자를 위한 유저 분석 &amp; 광고형 요금제 타겟 식별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52805" y="2531974"/>
            <a:ext cx="10458907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유저 이탈 방지 및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리텐션 최적화</a:t>
            </a: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위한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6A5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서비스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52805" y="4955134"/>
            <a:ext cx="2029054" cy="533095"/>
          </a:xfrm>
          <a:prstGeom prst="roundRect">
            <a:avLst>
              <a:gd name="adj" fmla="val 171527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52805" y="4955134"/>
            <a:ext cx="57607" cy="533095"/>
          </a:xfrm>
          <a:prstGeom prst="roundRect">
            <a:avLst>
              <a:gd name="adj" fmla="val 1587307"/>
            </a:avLst>
          </a:prstGeom>
          <a:solidFill>
            <a:srgbClr val="2F6BFF"/>
          </a:solidFill>
          <a:ln w="12700">
            <a:solidFill>
              <a:srgbClr val="2F6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38098" y="5136185"/>
            <a:ext cx="171907" cy="17190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10005" y="4955134"/>
            <a:ext cx="1390802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예측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72054" y="4955134"/>
            <a:ext cx="2229307" cy="533095"/>
          </a:xfrm>
          <a:prstGeom prst="roundRect">
            <a:avLst>
              <a:gd name="adj" fmla="val 171527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3172054" y="4955134"/>
            <a:ext cx="57607" cy="533095"/>
          </a:xfrm>
          <a:prstGeom prst="roundRect">
            <a:avLst>
              <a:gd name="adj" fmla="val 1587307"/>
            </a:avLst>
          </a:prstGeom>
          <a:solidFill>
            <a:srgbClr val="6A5CFF"/>
          </a:solidFill>
          <a:ln w="12700">
            <a:solidFill>
              <a:srgbClr val="6A5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842" b="-842"/>
          <a:stretch/>
        </p:blipFill>
        <p:spPr>
          <a:xfrm>
            <a:off x="3457346" y="5136185"/>
            <a:ext cx="190195" cy="17190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648456" y="4955134"/>
            <a:ext cx="157551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수용도 예측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585155" y="4955134"/>
            <a:ext cx="2076602" cy="533095"/>
          </a:xfrm>
          <a:prstGeom prst="roundRect">
            <a:avLst>
              <a:gd name="adj" fmla="val 171527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5585155" y="4955134"/>
            <a:ext cx="57607" cy="533095"/>
          </a:xfrm>
          <a:prstGeom prst="roundRect">
            <a:avLst>
              <a:gd name="adj" fmla="val 1587307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5871362" y="5136185"/>
            <a:ext cx="219456" cy="17190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89904" y="4955134"/>
            <a:ext cx="1390802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위험군 식별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85546"/>
            <a:ext cx="590702" cy="495605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485546"/>
            <a:ext cx="648310" cy="4956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97787" y="476402"/>
            <a:ext cx="2875788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기획 의도</a:t>
            </a:r>
            <a:endParaRPr lang="en-US" sz="27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1619402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2805" y="1571854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인식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61695" y="2143354"/>
            <a:ext cx="3305556" cy="857707"/>
          </a:xfrm>
          <a:prstGeom prst="roundRect">
            <a:avLst>
              <a:gd name="adj" fmla="val 284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61949" y="2343607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1677" y="2476195"/>
            <a:ext cx="237744" cy="19019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71854" y="2443277"/>
            <a:ext cx="145389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구독자 이탈 증가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61695" y="3191256"/>
            <a:ext cx="3305556" cy="857707"/>
          </a:xfrm>
          <a:prstGeom prst="roundRect">
            <a:avLst>
              <a:gd name="adj" fmla="val 284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961949" y="3390595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95451" y="3524098"/>
            <a:ext cx="190195" cy="1901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1854" y="3491179"/>
            <a:ext cx="117043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비효율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61695" y="4238244"/>
            <a:ext cx="3305556" cy="857707"/>
          </a:xfrm>
          <a:prstGeom prst="roundRect">
            <a:avLst>
              <a:gd name="adj" fmla="val 284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961949" y="4438498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95451" y="4572000"/>
            <a:ext cx="190195" cy="19019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71854" y="4539082"/>
            <a:ext cx="145389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정확도 부족</a:t>
            </a:r>
            <a:endParaRPr lang="en-US" sz="13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44898" y="1619402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35094" y="1571854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4444898" y="2143354"/>
            <a:ext cx="3962095" cy="1067105"/>
          </a:xfrm>
          <a:prstGeom prst="roundRect">
            <a:avLst>
              <a:gd name="adj" fmla="val 244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4645152" y="2038198"/>
            <a:ext cx="267005" cy="267005"/>
          </a:xfrm>
          <a:prstGeom prst="ellipse">
            <a:avLst/>
          </a:prstGeom>
          <a:solidFill>
            <a:srgbClr val="6A5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0"/>
          <p:cNvSpPr txBox="1"/>
          <p:nvPr/>
        </p:nvSpPr>
        <p:spPr>
          <a:xfrm>
            <a:off x="4738421" y="2072030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682642" y="2381098"/>
            <a:ext cx="36768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&amp; 이용 시간 예측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682642" y="2743200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User Loyalty Prediction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4444898" y="3629254"/>
            <a:ext cx="3962095" cy="1067105"/>
          </a:xfrm>
          <a:prstGeom prst="roundRect">
            <a:avLst>
              <a:gd name="adj" fmla="val 244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4645152" y="3524098"/>
            <a:ext cx="267005" cy="267005"/>
          </a:xfrm>
          <a:prstGeom prst="ellipse">
            <a:avLst/>
          </a:prstGeom>
          <a:solidFill>
            <a:srgbClr val="6A5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4738421" y="3557930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4682642" y="3866998"/>
            <a:ext cx="36768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수용도 예측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4682642" y="4229100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Ad-Plan Acceptance Prediction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4444898" y="5210251"/>
            <a:ext cx="3962095" cy="685800"/>
          </a:xfrm>
          <a:prstGeom prst="roundRect">
            <a:avLst>
              <a:gd name="adj" fmla="val 44444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4550054" y="5410505"/>
            <a:ext cx="37536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 유저 조기 식별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8788298" y="1571854"/>
            <a:ext cx="2648102" cy="4809744"/>
          </a:xfrm>
          <a:prstGeom prst="roundRect">
            <a:avLst>
              <a:gd name="adj" fmla="val 3975"/>
            </a:avLst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16898" y="1848002"/>
            <a:ext cx="190195" cy="190195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207094" y="1800454"/>
            <a:ext cx="166603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활용 흐름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9016898" y="2314346"/>
            <a:ext cx="2190902" cy="552298"/>
          </a:xfrm>
          <a:prstGeom prst="roundRect">
            <a:avLst>
              <a:gd name="adj" fmla="val 456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9103766" y="2476195"/>
            <a:ext cx="2016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데이터 입력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42855" y="2943454"/>
            <a:ext cx="133502" cy="133502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016898" y="3152851"/>
            <a:ext cx="2190902" cy="552298"/>
          </a:xfrm>
          <a:prstGeom prst="roundRect">
            <a:avLst>
              <a:gd name="adj" fmla="val 456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9140342" y="3314700"/>
            <a:ext cx="194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예측</a:t>
            </a:r>
            <a:endParaRPr lang="en-US" sz="1200" dirty="0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42855" y="3781044"/>
            <a:ext cx="133502" cy="13350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9016898" y="3991356"/>
            <a:ext cx="2190902" cy="552298"/>
          </a:xfrm>
          <a:prstGeom prst="roundRect">
            <a:avLst>
              <a:gd name="adj" fmla="val 456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9103766" y="4153205"/>
            <a:ext cx="2016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위험군 / 수용군 분류</a:t>
            </a:r>
            <a:endParaRPr lang="en-US" sz="1200" dirty="0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42855" y="4619549"/>
            <a:ext cx="133502" cy="13350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9016898" y="4828946"/>
            <a:ext cx="2190902" cy="552298"/>
          </a:xfrm>
          <a:prstGeom prst="roundRect">
            <a:avLst>
              <a:gd name="adj" fmla="val 45672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9"/>
          <p:cNvSpPr txBox="1"/>
          <p:nvPr/>
        </p:nvSpPr>
        <p:spPr>
          <a:xfrm>
            <a:off x="9103766" y="4990795"/>
            <a:ext cx="2016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 프로모션 실행</a:t>
            </a:r>
            <a:endParaRPr lang="en-US" sz="1200" dirty="0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10"/>
          <a:srcRect l="-57" r="-57"/>
          <a:stretch/>
        </p:blipFill>
        <p:spPr>
          <a:xfrm>
            <a:off x="6325819" y="3305556"/>
            <a:ext cx="200254" cy="228600"/>
          </a:xfrm>
          <a:prstGeom prst="rect">
            <a:avLst/>
          </a:prstGeom>
        </p:spPr>
      </p:pic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l="-133" r="-133"/>
          <a:stretch/>
        </p:blipFill>
        <p:spPr>
          <a:xfrm>
            <a:off x="6340450" y="4791456"/>
            <a:ext cx="171907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85546"/>
            <a:ext cx="590702" cy="495605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485546"/>
            <a:ext cx="648310" cy="4956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97787" y="476402"/>
            <a:ext cx="2368296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설계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761695" y="1476756"/>
            <a:ext cx="972007" cy="342900"/>
          </a:xfrm>
          <a:prstGeom prst="roundRect">
            <a:avLst>
              <a:gd name="adj" fmla="val 88889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61695" y="1476756"/>
            <a:ext cx="10287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 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40687" y="1476756"/>
            <a:ext cx="22786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이용 시간 예측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2391156"/>
            <a:ext cx="403890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1695" y="2009851"/>
            <a:ext cx="88605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(X)</a:t>
            </a:r>
            <a:endParaRPr lang="en-US" sz="15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1648" r="-1648"/>
          <a:stretch/>
        </p:blipFill>
        <p:spPr>
          <a:xfrm>
            <a:off x="4629607" y="2057400"/>
            <a:ext cx="171907" cy="19019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1695" y="2562149"/>
            <a:ext cx="4038905" cy="1390802"/>
          </a:xfrm>
          <a:prstGeom prst="roundRect">
            <a:avLst>
              <a:gd name="adj" fmla="val 1080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23544" y="2762402"/>
            <a:ext cx="190195" cy="15270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14654" y="2723998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행태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23544" y="3047695"/>
            <a:ext cx="10287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28700" y="3114446"/>
            <a:ext cx="99395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시청 비중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2020824" y="3047695"/>
            <a:ext cx="990295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2125066" y="3114446"/>
            <a:ext cx="9107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자체제작 선호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079699" y="3047695"/>
            <a:ext cx="1095451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 txBox="1"/>
          <p:nvPr/>
        </p:nvSpPr>
        <p:spPr>
          <a:xfrm>
            <a:off x="3184855" y="3114446"/>
            <a:ext cx="11594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· 추천 시청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923544" y="3457346"/>
            <a:ext cx="1114654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1028700" y="3524098"/>
            <a:ext cx="104881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몰아보기 선호도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761695" y="4105656"/>
            <a:ext cx="4038905" cy="981151"/>
          </a:xfrm>
          <a:prstGeom prst="roundRect">
            <a:avLst>
              <a:gd name="adj" fmla="val 2171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923544" y="4304995"/>
            <a:ext cx="190195" cy="152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14654" y="4267505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 통계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23544" y="4591202"/>
            <a:ext cx="4572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28700" y="4657954"/>
            <a:ext cx="3246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1454810" y="4591202"/>
            <a:ext cx="4572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7"/>
          <p:cNvSpPr txBox="1"/>
          <p:nvPr/>
        </p:nvSpPr>
        <p:spPr>
          <a:xfrm>
            <a:off x="1559966" y="4657954"/>
            <a:ext cx="3246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연령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1986077" y="4591202"/>
            <a:ext cx="743407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2091233" y="4657954"/>
            <a:ext cx="635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 소득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61695" y="5238598"/>
            <a:ext cx="4038905" cy="981151"/>
          </a:xfrm>
          <a:prstGeom prst="roundRect">
            <a:avLst>
              <a:gd name="adj" fmla="val 2171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23544" y="5438851"/>
            <a:ext cx="190195" cy="152705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114654" y="5400446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정보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23544" y="5724144"/>
            <a:ext cx="743407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1028700" y="5790895"/>
            <a:ext cx="635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가구원 수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1738274" y="5724144"/>
            <a:ext cx="619049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5"/>
          <p:cNvSpPr txBox="1"/>
          <p:nvPr/>
        </p:nvSpPr>
        <p:spPr>
          <a:xfrm>
            <a:off x="1842516" y="5790895"/>
            <a:ext cx="4974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기기 수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2428646" y="5724144"/>
            <a:ext cx="10287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7"/>
          <p:cNvSpPr txBox="1"/>
          <p:nvPr/>
        </p:nvSpPr>
        <p:spPr>
          <a:xfrm>
            <a:off x="2533802" y="5790895"/>
            <a:ext cx="99395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이용 시간대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086807" y="2391156"/>
            <a:ext cx="3029407" cy="1920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5086807" y="2009851"/>
            <a:ext cx="962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(y)</a:t>
            </a:r>
            <a:endParaRPr lang="en-US" sz="1500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25105" y="2057400"/>
            <a:ext cx="190195" cy="190195"/>
          </a:xfrm>
          <a:prstGeom prst="rect">
            <a:avLst/>
          </a:prstGeom>
        </p:spPr>
      </p:pic>
      <p:sp>
        <p:nvSpPr>
          <p:cNvPr id="47" name="Shape 40"/>
          <p:cNvSpPr/>
          <p:nvPr/>
        </p:nvSpPr>
        <p:spPr>
          <a:xfrm>
            <a:off x="5086807" y="2562149"/>
            <a:ext cx="3029407" cy="2838298"/>
          </a:xfrm>
          <a:prstGeom prst="roundRect">
            <a:avLst>
              <a:gd name="adj" fmla="val 3459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372454" y="3099816"/>
            <a:ext cx="457200" cy="45720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5884164" y="3747211"/>
            <a:ext cx="143835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주중 + 주말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이용 시간</a:t>
            </a:r>
            <a:endParaRPr lang="en-US" sz="2100" dirty="0"/>
          </a:p>
        </p:txBody>
      </p:sp>
      <p:sp>
        <p:nvSpPr>
          <p:cNvPr id="50" name="Shape 42"/>
          <p:cNvSpPr/>
          <p:nvPr/>
        </p:nvSpPr>
        <p:spPr>
          <a:xfrm>
            <a:off x="5810098" y="4558284"/>
            <a:ext cx="1591056" cy="304495"/>
          </a:xfrm>
          <a:prstGeom prst="roundRect">
            <a:avLst>
              <a:gd name="adj" fmla="val 300300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/>
          <p:nvPr/>
        </p:nvSpPr>
        <p:spPr>
          <a:xfrm>
            <a:off x="5727802" y="4558284"/>
            <a:ext cx="1755648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D28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연속형 수치 (분 단위)</a:t>
            </a:r>
            <a:endParaRPr lang="en-US" sz="1200" dirty="0"/>
          </a:p>
        </p:txBody>
      </p:sp>
      <p:sp>
        <p:nvSpPr>
          <p:cNvPr id="52" name="Shape 44"/>
          <p:cNvSpPr/>
          <p:nvPr/>
        </p:nvSpPr>
        <p:spPr>
          <a:xfrm>
            <a:off x="5086807" y="5591556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5"/>
          <p:cNvSpPr/>
          <p:nvPr/>
        </p:nvSpPr>
        <p:spPr>
          <a:xfrm>
            <a:off x="5086807" y="5591556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6"/>
          <p:cNvSpPr txBox="1"/>
          <p:nvPr/>
        </p:nvSpPr>
        <p:spPr>
          <a:xfrm>
            <a:off x="5277002" y="5753405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5277002" y="5962802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Regressor</a:t>
            </a:r>
            <a:endParaRPr lang="en-US" sz="1300" dirty="0"/>
          </a:p>
        </p:txBody>
      </p:sp>
      <p:sp>
        <p:nvSpPr>
          <p:cNvPr id="56" name="Shape 48"/>
          <p:cNvSpPr/>
          <p:nvPr/>
        </p:nvSpPr>
        <p:spPr>
          <a:xfrm>
            <a:off x="8401507" y="2391156"/>
            <a:ext cx="3029407" cy="1920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8401507" y="2009851"/>
            <a:ext cx="819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활용</a:t>
            </a:r>
            <a:endParaRPr lang="en-US" sz="1500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239805" y="2057400"/>
            <a:ext cx="190195" cy="190195"/>
          </a:xfrm>
          <a:prstGeom prst="rect">
            <a:avLst/>
          </a:prstGeom>
        </p:spPr>
      </p:pic>
      <p:sp>
        <p:nvSpPr>
          <p:cNvPr id="59" name="Shape 50"/>
          <p:cNvSpPr/>
          <p:nvPr/>
        </p:nvSpPr>
        <p:spPr>
          <a:xfrm>
            <a:off x="8401507" y="2562149"/>
            <a:ext cx="3029407" cy="3819449"/>
          </a:xfrm>
          <a:prstGeom prst="roundRect">
            <a:avLst>
              <a:gd name="adj" fmla="val 303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1"/>
          <p:cNvSpPr txBox="1"/>
          <p:nvPr/>
        </p:nvSpPr>
        <p:spPr>
          <a:xfrm>
            <a:off x="8639251" y="2800807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그룹 분류</a:t>
            </a:r>
            <a:endParaRPr lang="en-US" sz="1200" dirty="0"/>
          </a:p>
        </p:txBody>
      </p:sp>
      <p:sp>
        <p:nvSpPr>
          <p:cNvPr id="61" name="Shape 52"/>
          <p:cNvSpPr/>
          <p:nvPr/>
        </p:nvSpPr>
        <p:spPr>
          <a:xfrm>
            <a:off x="8639251" y="3124505"/>
            <a:ext cx="2553005" cy="800100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3"/>
          <p:cNvSpPr/>
          <p:nvPr/>
        </p:nvSpPr>
        <p:spPr>
          <a:xfrm>
            <a:off x="8639251" y="3124505"/>
            <a:ext cx="57607" cy="800100"/>
          </a:xfrm>
          <a:prstGeom prst="roundRect">
            <a:avLst>
              <a:gd name="adj" fmla="val 377930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4"/>
          <p:cNvSpPr txBox="1"/>
          <p:nvPr/>
        </p:nvSpPr>
        <p:spPr>
          <a:xfrm>
            <a:off x="8848649" y="3276295"/>
            <a:ext cx="102412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위험군</a:t>
            </a:r>
            <a:endParaRPr lang="en-US" sz="1300" dirty="0"/>
          </a:p>
        </p:txBody>
      </p:sp>
      <p:pic>
        <p:nvPicPr>
          <p:cNvPr id="64" name="Image 7" descr="preencoded.png"/>
          <p:cNvPicPr>
            <a:picLocks noChangeAspect="1"/>
          </p:cNvPicPr>
          <p:nvPr/>
        </p:nvPicPr>
        <p:blipFill>
          <a:blip r:embed="rId10"/>
          <a:srcRect t="-24734" b="-24734"/>
          <a:stretch/>
        </p:blipFill>
        <p:spPr>
          <a:xfrm>
            <a:off x="10867644" y="3276295"/>
            <a:ext cx="171907" cy="256946"/>
          </a:xfrm>
          <a:prstGeom prst="rect">
            <a:avLst/>
          </a:prstGeom>
        </p:spPr>
      </p:pic>
      <p:sp>
        <p:nvSpPr>
          <p:cNvPr id="65" name="Text 55"/>
          <p:cNvSpPr txBox="1"/>
          <p:nvPr/>
        </p:nvSpPr>
        <p:spPr>
          <a:xfrm>
            <a:off x="8848649" y="3571646"/>
            <a:ext cx="23664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시간 급감 및 저조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8639251" y="4114800"/>
            <a:ext cx="2553005" cy="800100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57"/>
          <p:cNvSpPr/>
          <p:nvPr/>
        </p:nvSpPr>
        <p:spPr>
          <a:xfrm>
            <a:off x="8639251" y="4114800"/>
            <a:ext cx="57607" cy="800100"/>
          </a:xfrm>
          <a:prstGeom prst="roundRect">
            <a:avLst>
              <a:gd name="adj" fmla="val 37793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8"/>
          <p:cNvSpPr txBox="1"/>
          <p:nvPr/>
        </p:nvSpPr>
        <p:spPr>
          <a:xfrm>
            <a:off x="8848649" y="4267505"/>
            <a:ext cx="5532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보통군</a:t>
            </a:r>
            <a:endParaRPr lang="en-US" sz="1300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 r:embed="rId11"/>
          <a:srcRect t="-23615" b="-23615"/>
          <a:stretch/>
        </p:blipFill>
        <p:spPr>
          <a:xfrm>
            <a:off x="10886846" y="4267505"/>
            <a:ext cx="152705" cy="256946"/>
          </a:xfrm>
          <a:prstGeom prst="rect">
            <a:avLst/>
          </a:prstGeom>
        </p:spPr>
      </p:pic>
      <p:sp>
        <p:nvSpPr>
          <p:cNvPr id="70" name="Text 59"/>
          <p:cNvSpPr txBox="1"/>
          <p:nvPr/>
        </p:nvSpPr>
        <p:spPr>
          <a:xfrm>
            <a:off x="8848649" y="4562856"/>
            <a:ext cx="23664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이용 시간 유지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8639251" y="5105095"/>
            <a:ext cx="2553005" cy="800100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61"/>
          <p:cNvSpPr/>
          <p:nvPr/>
        </p:nvSpPr>
        <p:spPr>
          <a:xfrm>
            <a:off x="8639251" y="5105095"/>
            <a:ext cx="57607" cy="800100"/>
          </a:xfrm>
          <a:prstGeom prst="roundRect">
            <a:avLst>
              <a:gd name="adj" fmla="val 377930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62"/>
          <p:cNvSpPr txBox="1"/>
          <p:nvPr/>
        </p:nvSpPr>
        <p:spPr>
          <a:xfrm>
            <a:off x="8848649" y="5257800"/>
            <a:ext cx="5532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안정군</a:t>
            </a:r>
            <a:endParaRPr lang="en-US" sz="130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12"/>
          <a:srcRect t="-24734" b="-24734"/>
          <a:stretch/>
        </p:blipFill>
        <p:spPr>
          <a:xfrm>
            <a:off x="10867644" y="5257800"/>
            <a:ext cx="171907" cy="256946"/>
          </a:xfrm>
          <a:prstGeom prst="rect">
            <a:avLst/>
          </a:prstGeom>
        </p:spPr>
      </p:pic>
      <p:sp>
        <p:nvSpPr>
          <p:cNvPr id="75" name="Text 63"/>
          <p:cNvSpPr txBox="1"/>
          <p:nvPr/>
        </p:nvSpPr>
        <p:spPr>
          <a:xfrm>
            <a:off x="8848649" y="5553151"/>
            <a:ext cx="23664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충성도 및 이용 시간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85546"/>
            <a:ext cx="590702" cy="495605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485546"/>
            <a:ext cx="648310" cy="4956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97787" y="476402"/>
            <a:ext cx="2368296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설계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761695" y="1476756"/>
            <a:ext cx="972007" cy="342900"/>
          </a:xfrm>
          <a:prstGeom prst="roundRect">
            <a:avLst>
              <a:gd name="adj" fmla="val 88889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61695" y="1476756"/>
            <a:ext cx="10287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40687" y="1476756"/>
            <a:ext cx="31107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수용도 예측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2391156"/>
            <a:ext cx="403890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1695" y="2009851"/>
            <a:ext cx="88605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(X)</a:t>
            </a:r>
            <a:endParaRPr lang="en-US" sz="15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1648" r="-1648"/>
          <a:stretch/>
        </p:blipFill>
        <p:spPr>
          <a:xfrm>
            <a:off x="4629607" y="2057400"/>
            <a:ext cx="171907" cy="19019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1695" y="2562149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1862" b="-1862"/>
          <a:stretch/>
        </p:blipFill>
        <p:spPr>
          <a:xfrm>
            <a:off x="886054" y="2722169"/>
            <a:ext cx="171907" cy="14264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7046" y="2686507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행태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6054" y="2976372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972007" y="3023921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비중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1604772" y="2976372"/>
            <a:ext cx="8951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1690726" y="3023921"/>
            <a:ext cx="8458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자체제작 선호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886054" y="3314700"/>
            <a:ext cx="733349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 txBox="1"/>
          <p:nvPr/>
        </p:nvSpPr>
        <p:spPr>
          <a:xfrm>
            <a:off x="972007" y="3362249"/>
            <a:ext cx="7434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· 추천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1674266" y="3314700"/>
            <a:ext cx="6291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1759306" y="3362249"/>
            <a:ext cx="5340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몰아보기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838298" y="2562149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1862" b="-1862"/>
          <a:stretch/>
        </p:blipFill>
        <p:spPr>
          <a:xfrm>
            <a:off x="2962656" y="2722169"/>
            <a:ext cx="171907" cy="14264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3133649" y="2686507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 통계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962656" y="2976372"/>
            <a:ext cx="4005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3047695" y="3023921"/>
            <a:ext cx="3054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3418942" y="2976372"/>
            <a:ext cx="4005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7"/>
          <p:cNvSpPr txBox="1"/>
          <p:nvPr/>
        </p:nvSpPr>
        <p:spPr>
          <a:xfrm>
            <a:off x="3504895" y="3023921"/>
            <a:ext cx="3054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연령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3875227" y="2976372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3961181" y="3023921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 소득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761695" y="4529023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rcRect t="-1862" b="-1862"/>
          <a:stretch/>
        </p:blipFill>
        <p:spPr>
          <a:xfrm>
            <a:off x="886054" y="4689043"/>
            <a:ext cx="171907" cy="142646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57046" y="4653382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정보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886054" y="4943246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972007" y="4990795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가구원 수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1604772" y="4943246"/>
            <a:ext cx="5522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5"/>
          <p:cNvSpPr txBox="1"/>
          <p:nvPr/>
        </p:nvSpPr>
        <p:spPr>
          <a:xfrm>
            <a:off x="1690726" y="4990795"/>
            <a:ext cx="46177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기기 수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886054" y="5281574"/>
            <a:ext cx="933602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7"/>
          <p:cNvSpPr txBox="1"/>
          <p:nvPr/>
        </p:nvSpPr>
        <p:spPr>
          <a:xfrm>
            <a:off x="972007" y="5329123"/>
            <a:ext cx="9235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이용 시간대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2838298" y="4529023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 r:embed="rId7"/>
          <a:srcRect l="-3561" r="-3561"/>
          <a:stretch/>
        </p:blipFill>
        <p:spPr>
          <a:xfrm>
            <a:off x="2962656" y="4689043"/>
            <a:ext cx="171907" cy="142646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3133649" y="4653382"/>
            <a:ext cx="10067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2962656" y="4943246"/>
            <a:ext cx="933602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1"/>
          <p:cNvSpPr txBox="1"/>
          <p:nvPr/>
        </p:nvSpPr>
        <p:spPr>
          <a:xfrm>
            <a:off x="3047695" y="4990795"/>
            <a:ext cx="9235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이용 요금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2962656" y="5281574"/>
            <a:ext cx="1047902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3"/>
          <p:cNvSpPr txBox="1"/>
          <p:nvPr/>
        </p:nvSpPr>
        <p:spPr>
          <a:xfrm>
            <a:off x="3047695" y="5329123"/>
            <a:ext cx="105156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이용 현황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5086807" y="2391156"/>
            <a:ext cx="3029407" cy="1920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5086807" y="2009851"/>
            <a:ext cx="962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(y)</a:t>
            </a:r>
            <a:endParaRPr lang="en-US" sz="1500" dirty="0"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5105" y="2057400"/>
            <a:ext cx="190195" cy="190195"/>
          </a:xfrm>
          <a:prstGeom prst="rect">
            <a:avLst/>
          </a:prstGeom>
        </p:spPr>
      </p:pic>
      <p:sp>
        <p:nvSpPr>
          <p:cNvPr id="54" name="Shape 46"/>
          <p:cNvSpPr/>
          <p:nvPr/>
        </p:nvSpPr>
        <p:spPr>
          <a:xfrm>
            <a:off x="5086807" y="2562149"/>
            <a:ext cx="3029407" cy="2838298"/>
          </a:xfrm>
          <a:prstGeom prst="roundRect">
            <a:avLst>
              <a:gd name="adj" fmla="val 3459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6" descr="preencoded.png"/>
          <p:cNvPicPr>
            <a:picLocks noChangeAspect="1"/>
          </p:cNvPicPr>
          <p:nvPr/>
        </p:nvPicPr>
        <p:blipFill>
          <a:blip r:embed="rId9"/>
          <a:srcRect l="-5556" r="-5556"/>
          <a:stretch/>
        </p:blipFill>
        <p:spPr>
          <a:xfrm>
            <a:off x="6314846" y="3078785"/>
            <a:ext cx="571500" cy="457200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817413" y="3726180"/>
            <a:ext cx="15755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의향 점수</a:t>
            </a:r>
            <a:endParaRPr lang="en-US" sz="1900" dirty="0"/>
          </a:p>
        </p:txBody>
      </p:sp>
      <p:sp>
        <p:nvSpPr>
          <p:cNvPr id="59" name="Shape 50"/>
          <p:cNvSpPr/>
          <p:nvPr/>
        </p:nvSpPr>
        <p:spPr>
          <a:xfrm>
            <a:off x="5086807" y="5591556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1"/>
          <p:cNvSpPr/>
          <p:nvPr/>
        </p:nvSpPr>
        <p:spPr>
          <a:xfrm>
            <a:off x="5086807" y="5591556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2"/>
          <p:cNvSpPr txBox="1"/>
          <p:nvPr/>
        </p:nvSpPr>
        <p:spPr>
          <a:xfrm>
            <a:off x="5277002" y="5753405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5277002" y="5962802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Regressor</a:t>
            </a:r>
            <a:endParaRPr lang="en-US" sz="1300" dirty="0"/>
          </a:p>
        </p:txBody>
      </p:sp>
      <p:sp>
        <p:nvSpPr>
          <p:cNvPr id="63" name="Shape 54"/>
          <p:cNvSpPr/>
          <p:nvPr/>
        </p:nvSpPr>
        <p:spPr>
          <a:xfrm>
            <a:off x="8401507" y="2391156"/>
            <a:ext cx="3029407" cy="1920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5"/>
          <p:cNvSpPr txBox="1"/>
          <p:nvPr/>
        </p:nvSpPr>
        <p:spPr>
          <a:xfrm>
            <a:off x="8401507" y="2009851"/>
            <a:ext cx="819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활용</a:t>
            </a:r>
            <a:endParaRPr lang="en-US" sz="150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1239805" y="2057400"/>
            <a:ext cx="190195" cy="190195"/>
          </a:xfrm>
          <a:prstGeom prst="rect">
            <a:avLst/>
          </a:prstGeom>
        </p:spPr>
      </p:pic>
      <p:sp>
        <p:nvSpPr>
          <p:cNvPr id="66" name="Shape 56"/>
          <p:cNvSpPr/>
          <p:nvPr/>
        </p:nvSpPr>
        <p:spPr>
          <a:xfrm>
            <a:off x="8401507" y="2562149"/>
            <a:ext cx="3029407" cy="3819449"/>
          </a:xfrm>
          <a:prstGeom prst="roundRect">
            <a:avLst>
              <a:gd name="adj" fmla="val 303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57"/>
          <p:cNvSpPr/>
          <p:nvPr/>
        </p:nvSpPr>
        <p:spPr>
          <a:xfrm>
            <a:off x="9534449" y="3082442"/>
            <a:ext cx="761695" cy="761695"/>
          </a:xfrm>
          <a:prstGeom prst="ellipse">
            <a:avLst/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687154" y="3235147"/>
            <a:ext cx="457200" cy="457200"/>
          </a:xfrm>
          <a:prstGeom prst="rect">
            <a:avLst/>
          </a:prstGeom>
        </p:spPr>
      </p:pic>
      <p:sp>
        <p:nvSpPr>
          <p:cNvPr id="69" name="Text 58"/>
          <p:cNvSpPr txBox="1"/>
          <p:nvPr/>
        </p:nvSpPr>
        <p:spPr>
          <a:xfrm>
            <a:off x="8890711" y="4130345"/>
            <a:ext cx="205648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프로모션 타겟 선별</a:t>
            </a:r>
            <a:endParaRPr lang="en-US" sz="1600" dirty="0"/>
          </a:p>
        </p:txBody>
      </p:sp>
      <p:sp>
        <p:nvSpPr>
          <p:cNvPr id="70" name="Shape 59"/>
          <p:cNvSpPr/>
          <p:nvPr/>
        </p:nvSpPr>
        <p:spPr>
          <a:xfrm>
            <a:off x="8639251" y="4730191"/>
            <a:ext cx="2553005" cy="1133856"/>
          </a:xfrm>
          <a:prstGeom prst="roundRect">
            <a:avLst>
              <a:gd name="adj" fmla="val 16265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0"/>
          <p:cNvSpPr txBox="1"/>
          <p:nvPr/>
        </p:nvSpPr>
        <p:spPr>
          <a:xfrm>
            <a:off x="8801100" y="4930445"/>
            <a:ext cx="22293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수용도 점수 기반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전환 가능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그룹 추출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924458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381305"/>
            <a:ext cx="694944" cy="400507"/>
          </a:xfrm>
          <a:prstGeom prst="roundRect">
            <a:avLst>
              <a:gd name="adj" fmla="val 86975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1500" y="381305"/>
            <a:ext cx="752551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63500" rIns="139700" bIns="635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S-01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9830" y="381305"/>
            <a:ext cx="349758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화면설계서 / 메인 페이지</a:t>
            </a:r>
            <a:endParaRPr lang="en-US" sz="21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571500" y="1123798"/>
            <a:ext cx="6400800" cy="535289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71754" y="1324051"/>
            <a:ext cx="6001207" cy="4953305"/>
          </a:xfrm>
          <a:prstGeom prst="roundRect">
            <a:avLst>
              <a:gd name="adj" fmla="val 568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80898" y="1333195"/>
            <a:ext cx="5982005" cy="476402"/>
          </a:xfrm>
          <a:prstGeom prst="roundRect">
            <a:avLst>
              <a:gd name="adj" fmla="val 6142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80898" y="1800454"/>
            <a:ext cx="5982005" cy="9144"/>
          </a:xfrm>
          <a:prstGeom prst="roundRect">
            <a:avLst>
              <a:gd name="adj" fmla="val 3200000"/>
            </a:avLst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1029614" y="1452982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OTT Analytics 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140964" y="1481328"/>
            <a:ext cx="1911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437230" y="1481328"/>
            <a:ext cx="97017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예측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427525" y="1481328"/>
            <a:ext cx="108813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분석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80898" y="1809598"/>
            <a:ext cx="5982005" cy="4457700"/>
          </a:xfrm>
          <a:prstGeom prst="roundRect">
            <a:avLst>
              <a:gd name="adj" fmla="val 7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972007" y="2000707"/>
            <a:ext cx="5791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예측부터 리텐션 전략까지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72007" y="2171700"/>
            <a:ext cx="5715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구독자 리텐션 AI 솔루션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2007" y="2467051"/>
            <a:ext cx="5791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마케터를 위한 유저 분석 플랫폼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72007" y="2924251"/>
            <a:ext cx="5715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72007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1095451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87%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095451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없음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870302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2993746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13%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993746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68596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4892954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892954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리텐션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972007" y="4224528"/>
            <a:ext cx="57918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기능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72007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95451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71346" y="4700930"/>
            <a:ext cx="133502" cy="133502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5451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1095451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시간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충성도 점수 산출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2870302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4"/>
          <p:cNvSpPr/>
          <p:nvPr/>
        </p:nvSpPr>
        <p:spPr>
          <a:xfrm>
            <a:off x="2993746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3060497" y="4700930"/>
            <a:ext cx="152705" cy="133502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2993746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2993746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민감도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 타겟 식별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4768596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4892954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4983480" y="4700930"/>
            <a:ext cx="105156" cy="13350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4892954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endParaRPr lang="en-US" sz="900" dirty="0"/>
          </a:p>
        </p:txBody>
      </p:sp>
      <p:sp>
        <p:nvSpPr>
          <p:cNvPr id="46" name="Text 40"/>
          <p:cNvSpPr txBox="1"/>
          <p:nvPr/>
        </p:nvSpPr>
        <p:spPr>
          <a:xfrm>
            <a:off x="4892954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결과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 전략 제안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7448702" y="1233526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2"/>
          <p:cNvSpPr/>
          <p:nvPr/>
        </p:nvSpPr>
        <p:spPr>
          <a:xfrm>
            <a:off x="7410298" y="1233526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867498" y="1214323"/>
            <a:ext cx="1666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로고</a:t>
            </a:r>
            <a:endParaRPr lang="en-US" sz="1200" dirty="0"/>
          </a:p>
        </p:txBody>
      </p:sp>
      <p:sp>
        <p:nvSpPr>
          <p:cNvPr id="50" name="Text 44"/>
          <p:cNvSpPr txBox="1"/>
          <p:nvPr/>
        </p:nvSpPr>
        <p:spPr>
          <a:xfrm>
            <a:off x="7867498" y="1481328"/>
            <a:ext cx="160477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로고 및 브랜드명.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 시 메인 페이지로 이동.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448702" y="2128723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6"/>
          <p:cNvSpPr/>
          <p:nvPr/>
        </p:nvSpPr>
        <p:spPr>
          <a:xfrm>
            <a:off x="7410298" y="2128723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Text 47"/>
          <p:cNvSpPr txBox="1"/>
          <p:nvPr/>
        </p:nvSpPr>
        <p:spPr>
          <a:xfrm>
            <a:off x="7867498" y="2109521"/>
            <a:ext cx="1666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내비게이션 바</a:t>
            </a:r>
            <a:endParaRPr lang="en-US" sz="1200" dirty="0"/>
          </a:p>
        </p:txBody>
      </p:sp>
      <p:sp>
        <p:nvSpPr>
          <p:cNvPr id="54" name="Text 48"/>
          <p:cNvSpPr txBox="1"/>
          <p:nvPr/>
        </p:nvSpPr>
        <p:spPr>
          <a:xfrm>
            <a:off x="7867498" y="2376526"/>
            <a:ext cx="19321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메뉴로 각 분석 페이지 이동.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7448702" y="2824582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0"/>
          <p:cNvSpPr/>
          <p:nvPr/>
        </p:nvSpPr>
        <p:spPr>
          <a:xfrm>
            <a:off x="7410298" y="2824582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7867498" y="2805379"/>
            <a:ext cx="21607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대시보드</a:t>
            </a:r>
            <a:endParaRPr lang="en-US" sz="1200" dirty="0"/>
          </a:p>
        </p:txBody>
      </p:sp>
      <p:sp>
        <p:nvSpPr>
          <p:cNvPr id="58" name="Text 52"/>
          <p:cNvSpPr txBox="1"/>
          <p:nvPr/>
        </p:nvSpPr>
        <p:spPr>
          <a:xfrm>
            <a:off x="7867498" y="3071470"/>
            <a:ext cx="20766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모델이 예측한 리텐션 분석 결과.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(이탈없음 / 이탈위험 / 리텐션)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7448702" y="3719779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4"/>
          <p:cNvSpPr/>
          <p:nvPr/>
        </p:nvSpPr>
        <p:spPr>
          <a:xfrm>
            <a:off x="7410298" y="3719779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7867498" y="3700577"/>
            <a:ext cx="16980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예측</a:t>
            </a:r>
            <a:endParaRPr lang="en-US" sz="1200" dirty="0"/>
          </a:p>
        </p:txBody>
      </p:sp>
      <p:sp>
        <p:nvSpPr>
          <p:cNvPr id="62" name="Text 56"/>
          <p:cNvSpPr txBox="1"/>
          <p:nvPr/>
        </p:nvSpPr>
        <p:spPr>
          <a:xfrm>
            <a:off x="7867498" y="3967582"/>
            <a:ext cx="163494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드롭다운으로 입력값 선택 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위험도 예측 결과 출력.</a:t>
            </a:r>
            <a:endParaRPr lang="en-US" sz="1000" dirty="0"/>
          </a:p>
        </p:txBody>
      </p:sp>
      <p:pic>
        <p:nvPicPr>
          <p:cNvPr id="63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9329623" y="4021531"/>
            <a:ext cx="105156" cy="114300"/>
          </a:xfrm>
          <a:prstGeom prst="rect">
            <a:avLst/>
          </a:prstGeom>
        </p:spPr>
      </p:pic>
      <p:sp>
        <p:nvSpPr>
          <p:cNvPr id="64" name="Shape 57"/>
          <p:cNvSpPr/>
          <p:nvPr/>
        </p:nvSpPr>
        <p:spPr>
          <a:xfrm>
            <a:off x="7448702" y="4614977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8"/>
          <p:cNvSpPr/>
          <p:nvPr/>
        </p:nvSpPr>
        <p:spPr>
          <a:xfrm>
            <a:off x="7410298" y="4614977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sp>
        <p:nvSpPr>
          <p:cNvPr id="66" name="Text 59"/>
          <p:cNvSpPr txBox="1"/>
          <p:nvPr/>
        </p:nvSpPr>
        <p:spPr>
          <a:xfrm>
            <a:off x="7867498" y="4595774"/>
            <a:ext cx="16980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분석</a:t>
            </a:r>
            <a:endParaRPr lang="en-US" sz="1200" dirty="0"/>
          </a:p>
        </p:txBody>
      </p:sp>
      <p:sp>
        <p:nvSpPr>
          <p:cNvPr id="67" name="Text 60"/>
          <p:cNvSpPr txBox="1"/>
          <p:nvPr/>
        </p:nvSpPr>
        <p:spPr>
          <a:xfrm>
            <a:off x="7867498" y="4862779"/>
            <a:ext cx="163494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드롭다운으로 입력값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수용도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9329623" y="4917643"/>
            <a:ext cx="105156" cy="114300"/>
          </a:xfrm>
          <a:prstGeom prst="rect">
            <a:avLst/>
          </a:prstGeom>
        </p:spPr>
      </p:pic>
      <p:sp>
        <p:nvSpPr>
          <p:cNvPr id="69" name="Shape 61"/>
          <p:cNvSpPr/>
          <p:nvPr/>
        </p:nvSpPr>
        <p:spPr>
          <a:xfrm>
            <a:off x="7448702" y="5510174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2"/>
          <p:cNvSpPr/>
          <p:nvPr/>
        </p:nvSpPr>
        <p:spPr>
          <a:xfrm>
            <a:off x="7410298" y="5510174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867498" y="5490972"/>
            <a:ext cx="1625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인사이트</a:t>
            </a:r>
            <a:endParaRPr lang="en-US" sz="1200" dirty="0"/>
          </a:p>
        </p:txBody>
      </p:sp>
      <p:sp>
        <p:nvSpPr>
          <p:cNvPr id="72" name="Text 64"/>
          <p:cNvSpPr txBox="1"/>
          <p:nvPr/>
        </p:nvSpPr>
        <p:spPr>
          <a:xfrm>
            <a:off x="7867498" y="5757977"/>
            <a:ext cx="156545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그룹 분포 차트 시각화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프로모션 타겟 목록 제공.</a:t>
            </a:r>
            <a:endParaRPr lang="en-US" sz="1000" dirty="0"/>
          </a:p>
        </p:txBody>
      </p:sp>
      <p:pic>
        <p:nvPicPr>
          <p:cNvPr id="7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66851" y="1419149"/>
            <a:ext cx="267005" cy="267005"/>
          </a:xfrm>
          <a:prstGeom prst="rect">
            <a:avLst/>
          </a:prstGeom>
        </p:spPr>
      </p:pic>
      <p:sp>
        <p:nvSpPr>
          <p:cNvPr id="74" name="Text 65"/>
          <p:cNvSpPr/>
          <p:nvPr/>
        </p:nvSpPr>
        <p:spPr>
          <a:xfrm>
            <a:off x="828446" y="1419149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pic>
        <p:nvPicPr>
          <p:cNvPr id="75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923875" y="1419149"/>
            <a:ext cx="267005" cy="267005"/>
          </a:xfrm>
          <a:prstGeom prst="rect">
            <a:avLst/>
          </a:prstGeom>
        </p:spPr>
      </p:pic>
      <p:sp>
        <p:nvSpPr>
          <p:cNvPr id="76" name="Text 66"/>
          <p:cNvSpPr/>
          <p:nvPr/>
        </p:nvSpPr>
        <p:spPr>
          <a:xfrm>
            <a:off x="3877056" y="1419149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pic>
        <p:nvPicPr>
          <p:cNvPr id="77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09944" y="3038551"/>
            <a:ext cx="267005" cy="267005"/>
          </a:xfrm>
          <a:prstGeom prst="rect">
            <a:avLst/>
          </a:prstGeom>
        </p:spPr>
      </p:pic>
      <p:sp>
        <p:nvSpPr>
          <p:cNvPr id="78" name="Text 67"/>
          <p:cNvSpPr/>
          <p:nvPr/>
        </p:nvSpPr>
        <p:spPr>
          <a:xfrm>
            <a:off x="6372454" y="3038551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1949" y="5820156"/>
            <a:ext cx="267005" cy="267005"/>
          </a:xfrm>
          <a:prstGeom prst="rect">
            <a:avLst/>
          </a:prstGeom>
        </p:spPr>
      </p:pic>
      <p:sp>
        <p:nvSpPr>
          <p:cNvPr id="80" name="Text 68"/>
          <p:cNvSpPr/>
          <p:nvPr/>
        </p:nvSpPr>
        <p:spPr>
          <a:xfrm>
            <a:off x="923544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6644" y="5820156"/>
            <a:ext cx="267005" cy="267005"/>
          </a:xfrm>
          <a:prstGeom prst="rect">
            <a:avLst/>
          </a:prstGeom>
        </p:spPr>
      </p:pic>
      <p:sp>
        <p:nvSpPr>
          <p:cNvPr id="82" name="Text 69"/>
          <p:cNvSpPr/>
          <p:nvPr/>
        </p:nvSpPr>
        <p:spPr>
          <a:xfrm>
            <a:off x="2829154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314846" y="5820156"/>
            <a:ext cx="267005" cy="267005"/>
          </a:xfrm>
          <a:prstGeom prst="rect">
            <a:avLst/>
          </a:prstGeom>
        </p:spPr>
      </p:pic>
      <p:sp>
        <p:nvSpPr>
          <p:cNvPr id="84" name="Text 70"/>
          <p:cNvSpPr/>
          <p:nvPr/>
        </p:nvSpPr>
        <p:spPr>
          <a:xfrm>
            <a:off x="6277356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407</Words>
  <Application>Microsoft Office PowerPoint</Application>
  <PresentationFormat>와이드스크린</PresentationFormat>
  <Paragraphs>153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 J</cp:lastModifiedBy>
  <cp:revision>3</cp:revision>
  <dcterms:created xsi:type="dcterms:W3CDTF">2026-03-16T01:49:59Z</dcterms:created>
  <dcterms:modified xsi:type="dcterms:W3CDTF">2026-03-16T02:24:20Z</dcterms:modified>
</cp:coreProperties>
</file>