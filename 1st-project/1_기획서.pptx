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62" r:id="rId4"/>
    <p:sldId id="259" r:id="rId5"/>
    <p:sldId id="263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900A"/>
    <a:srgbClr val="FFC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386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10401300" y="1255471"/>
            <a:ext cx="1276502" cy="4849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062669" y="6546607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이정민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_20260320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52805" y="2479720"/>
            <a:ext cx="10458907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유저 이탈 방지 및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리텐션 최적화</a:t>
            </a: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위한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6A5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서비스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l="-450" r="-450"/>
          <a:stretch/>
        </p:blipFill>
        <p:spPr>
          <a:xfrm>
            <a:off x="609905" y="476402"/>
            <a:ext cx="38405" cy="30449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" y="457200"/>
            <a:ext cx="11018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-36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의도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609905" y="1028700"/>
            <a:ext cx="112782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0" cap="none" spc="-81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시장 포화 — 이제 성장보다 이탈 방지가 먼저다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1_bar"/>
          <p:cNvSpPr/>
          <p:nvPr/>
        </p:nvSpPr>
        <p:spPr>
          <a:xfrm>
            <a:off x="609905" y="1650000"/>
            <a:ext cx="57150" cy="1550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S1_tag"/>
          <p:cNvSpPr txBox="1"/>
          <p:nvPr/>
        </p:nvSpPr>
        <p:spPr>
          <a:xfrm>
            <a:off x="780000" y="165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000" b="1" dirty="0">
                <a:solidFill>
                  <a:srgbClr val="DC2626"/>
                </a:solidFill>
                <a:latin typeface="Noto Sans KR" pitchFamily="34" charset="0"/>
              </a:rPr>
              <a:t>01  MARKET SATURATION</a:t>
            </a:r>
          </a:p>
        </p:txBody>
      </p:sp>
      <p:sp>
        <p:nvSpPr>
          <p:cNvPr id="9" name="S1_num"/>
          <p:cNvSpPr txBox="1"/>
          <p:nvPr/>
        </p:nvSpPr>
        <p:spPr>
          <a:xfrm>
            <a:off x="780000" y="1880000"/>
            <a:ext cx="5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5200" b="1" dirty="0">
                <a:solidFill>
                  <a:srgbClr val="111827"/>
                </a:solidFill>
                <a:latin typeface="Noto Sans KR" pitchFamily="34" charset="0"/>
              </a:rPr>
              <a:t>96%</a:t>
            </a: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  10~40대 이용률</a:t>
            </a:r>
          </a:p>
        </p:txBody>
      </p:sp>
      <p:sp>
        <p:nvSpPr>
          <p:cNvPr id="10" name="S1_desc"/>
          <p:cNvSpPr txBox="1"/>
          <p:nvPr/>
        </p:nvSpPr>
        <p:spPr>
          <a:xfrm>
            <a:off x="780000" y="2879918"/>
            <a:ext cx="50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b="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신규 유저 포화 상태</a:t>
            </a:r>
          </a:p>
        </p:txBody>
      </p:sp>
      <p:sp>
        <p:nvSpPr>
          <p:cNvPr id="11" name="Div1"/>
          <p:cNvSpPr/>
          <p:nvPr/>
        </p:nvSpPr>
        <p:spPr>
          <a:xfrm>
            <a:off x="609905" y="3250000"/>
            <a:ext cx="5500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S2_bar"/>
          <p:cNvSpPr/>
          <p:nvPr/>
        </p:nvSpPr>
        <p:spPr>
          <a:xfrm>
            <a:off x="609905" y="3320000"/>
            <a:ext cx="57150" cy="1550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S2_tag"/>
          <p:cNvSpPr txBox="1"/>
          <p:nvPr/>
        </p:nvSpPr>
        <p:spPr>
          <a:xfrm>
            <a:off x="780000" y="3320000"/>
            <a:ext cx="3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000" b="1" dirty="0">
                <a:solidFill>
                  <a:srgbClr val="1D4ED8"/>
                </a:solidFill>
                <a:latin typeface="Noto Sans KR" pitchFamily="34" charset="0"/>
              </a:rPr>
              <a:t>02  RETENTION-FIRST</a:t>
            </a:r>
          </a:p>
        </p:txBody>
      </p:sp>
      <p:sp>
        <p:nvSpPr>
          <p:cNvPr id="14" name="S2_headline"/>
          <p:cNvSpPr txBox="1"/>
          <p:nvPr/>
        </p:nvSpPr>
        <p:spPr>
          <a:xfrm>
            <a:off x="780000" y="3550000"/>
            <a:ext cx="5000000" cy="1289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2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질적 유지가 </a:t>
            </a:r>
            <a:endParaRPr lang="en-US" altLang="ko-KR" sz="2800" b="1" dirty="0">
              <a:solidFill>
                <a:srgbClr val="111827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2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답이다</a:t>
            </a:r>
          </a:p>
        </p:txBody>
      </p:sp>
      <p:sp>
        <p:nvSpPr>
          <p:cNvPr id="16" name="Div2"/>
          <p:cNvSpPr/>
          <p:nvPr/>
        </p:nvSpPr>
        <p:spPr>
          <a:xfrm>
            <a:off x="609905" y="4900000"/>
            <a:ext cx="5500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7" name="S3_bar"/>
          <p:cNvSpPr/>
          <p:nvPr/>
        </p:nvSpPr>
        <p:spPr>
          <a:xfrm>
            <a:off x="609905" y="4970000"/>
            <a:ext cx="57150" cy="1550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S3_tag"/>
          <p:cNvSpPr txBox="1"/>
          <p:nvPr/>
        </p:nvSpPr>
        <p:spPr>
          <a:xfrm>
            <a:off x="780000" y="497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000" b="1" dirty="0">
                <a:solidFill>
                  <a:srgbClr val="DC2626"/>
                </a:solidFill>
                <a:latin typeface="Noto Sans KR" pitchFamily="34" charset="0"/>
              </a:rPr>
              <a:t>03  CHURN RISK</a:t>
            </a:r>
          </a:p>
        </p:txBody>
      </p:sp>
      <p:sp>
        <p:nvSpPr>
          <p:cNvPr id="20" name="S3_num"/>
          <p:cNvSpPr txBox="1"/>
          <p:nvPr/>
        </p:nvSpPr>
        <p:spPr>
          <a:xfrm>
            <a:off x="780000" y="5200000"/>
            <a:ext cx="5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5200" b="1" dirty="0">
                <a:solidFill>
                  <a:srgbClr val="DC2626"/>
                </a:solidFill>
                <a:latin typeface="Noto Sans KR" pitchFamily="34" charset="0"/>
              </a:rPr>
              <a:t>↓</a:t>
            </a:r>
            <a:r>
              <a:rPr lang="en-US" sz="5200" b="1" dirty="0">
                <a:solidFill>
                  <a:srgbClr val="DC2626"/>
                </a:solidFill>
                <a:latin typeface="Noto Sans KR" pitchFamily="34" charset="0"/>
              </a:rPr>
              <a:t>2%</a:t>
            </a: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  해지율 보합 — 억눌린 이탈</a:t>
            </a:r>
          </a:p>
        </p:txBody>
      </p:sp>
      <p:sp>
        <p:nvSpPr>
          <p:cNvPr id="21" name="S3_desc"/>
          <p:cNvSpPr txBox="1"/>
          <p:nvPr/>
        </p:nvSpPr>
        <p:spPr>
          <a:xfrm>
            <a:off x="780000" y="5920000"/>
            <a:ext cx="50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b="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스트림플레이션으로 누적된 가격 피로.</a:t>
            </a:r>
          </a:p>
          <a:p>
            <a:pPr algn="l">
              <a:buNone/>
            </a:pPr>
            <a:r>
              <a:rPr lang="ko-KR" altLang="en-US" sz="1200" b="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잠재 이탈 위험군(High-Risk)은 이미 증가 중.</a:t>
            </a:r>
          </a:p>
        </p:txBody>
      </p:sp>
      <p:pic>
        <p:nvPicPr>
          <p:cNvPr id="32" name="R_Articl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0000">
            <a:off x="7342376" y="2424941"/>
            <a:ext cx="4600000" cy="29000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30" name="R_Article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80000">
            <a:off x="6360449" y="1883398"/>
            <a:ext cx="4800000" cy="32000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rcRect l="-450" r="-450"/>
          <a:stretch/>
        </p:blipFill>
        <p:spPr>
          <a:xfrm>
            <a:off x="609905" y="476402"/>
            <a:ext cx="38405" cy="30449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" y="457200"/>
            <a:ext cx="11018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-36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의도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609905" y="1028700"/>
            <a:ext cx="112782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0" cap="none" spc="-81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— 이탈을 막고 매출도 올리는 해법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Art_Shadow"/>
          <p:cNvSpPr/>
          <p:nvPr/>
        </p:nvSpPr>
        <p:spPr>
          <a:xfrm>
            <a:off x="620412" y="1696212"/>
            <a:ext cx="4294656" cy="285378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Conclusion_big"/>
          <p:cNvSpPr txBox="1"/>
          <p:nvPr/>
        </p:nvSpPr>
        <p:spPr>
          <a:xfrm>
            <a:off x="5900000" y="1700000"/>
            <a:ext cx="60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3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이탈 가능성이 있는 </a:t>
            </a:r>
            <a:r>
              <a:rPr lang="ko-KR" altLang="en-US" sz="3600" b="1" dirty="0" err="1">
                <a:solidFill>
                  <a:srgbClr val="E6900A"/>
                </a:solidFill>
                <a:latin typeface="Noto Sans KR" pitchFamily="34" charset="0"/>
                <a:ea typeface="Noto Sans KR" pitchFamily="34" charset="-122"/>
              </a:rPr>
              <a:t>중빈도</a:t>
            </a:r>
            <a:endParaRPr lang="ko-KR" altLang="en-US" sz="3600" b="1" dirty="0">
              <a:solidFill>
                <a:srgbClr val="E6900A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3600" b="1" dirty="0">
                <a:solidFill>
                  <a:srgbClr val="E6900A"/>
                </a:solidFill>
                <a:latin typeface="Noto Sans KR" pitchFamily="34" charset="0"/>
                <a:ea typeface="Noto Sans KR" pitchFamily="34" charset="-122"/>
              </a:rPr>
              <a:t>이용자</a:t>
            </a:r>
            <a:r>
              <a:rPr lang="ko-KR" altLang="en-US" sz="3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에게 </a:t>
            </a:r>
            <a:endParaRPr lang="en-US" altLang="ko-KR" sz="3600" b="1" dirty="0">
              <a:solidFill>
                <a:srgbClr val="111827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3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광고형 요금제를</a:t>
            </a:r>
          </a:p>
          <a:p>
            <a:pPr algn="l">
              <a:buNone/>
            </a:pPr>
            <a:r>
              <a:rPr lang="ko-KR" altLang="en-US" sz="3600" b="1" dirty="0">
                <a:latin typeface="Noto Sans KR" pitchFamily="34" charset="0"/>
                <a:ea typeface="Noto Sans KR" pitchFamily="34" charset="-122"/>
              </a:rPr>
              <a:t>제안하는 것</a:t>
            </a:r>
          </a:p>
        </p:txBody>
      </p:sp>
      <p:sp>
        <p:nvSpPr>
          <p:cNvPr id="53" name="Div"/>
          <p:cNvSpPr/>
          <p:nvPr/>
        </p:nvSpPr>
        <p:spPr>
          <a:xfrm>
            <a:off x="502920" y="4750000"/>
            <a:ext cx="11400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KW1_BG"/>
          <p:cNvSpPr/>
          <p:nvPr/>
        </p:nvSpPr>
        <p:spPr>
          <a:xfrm>
            <a:off x="502920" y="4850000"/>
            <a:ext cx="3600000" cy="1800000"/>
          </a:xfrm>
          <a:prstGeom prst="roundRect">
            <a:avLst>
              <a:gd name="adj" fmla="val 8000"/>
            </a:avLst>
          </a:prstGeom>
          <a:solidFill>
            <a:srgbClr val="FFF5F5"/>
          </a:solidFill>
          <a:ln w="19050">
            <a:solidFill>
              <a:srgbClr val="FECAC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56" name="KW1_text"/>
          <p:cNvSpPr txBox="1"/>
          <p:nvPr/>
        </p:nvSpPr>
        <p:spPr>
          <a:xfrm>
            <a:off x="692920" y="4940000"/>
            <a:ext cx="3220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26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</a:rPr>
              <a:t>광고형 요금제</a:t>
            </a:r>
          </a:p>
          <a:p>
            <a:pPr algn="l">
              <a:buNone/>
            </a:pPr>
            <a:endParaRPr lang="ko-KR" dirty="0"/>
          </a:p>
          <a:p>
            <a:pPr algn="l">
              <a:buNone/>
            </a:pP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구독료 ↓  +  광고 수익</a:t>
            </a:r>
          </a:p>
          <a:p>
            <a:pPr algn="l">
              <a:buNone/>
            </a:pP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→  ARPU ↑</a:t>
            </a:r>
          </a:p>
        </p:txBody>
      </p:sp>
      <p:sp>
        <p:nvSpPr>
          <p:cNvPr id="57" name="KW2_BG"/>
          <p:cNvSpPr/>
          <p:nvPr/>
        </p:nvSpPr>
        <p:spPr>
          <a:xfrm>
            <a:off x="4302920" y="4850000"/>
            <a:ext cx="3600000" cy="180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58" name="KW2_text"/>
          <p:cNvSpPr txBox="1"/>
          <p:nvPr/>
        </p:nvSpPr>
        <p:spPr>
          <a:xfrm>
            <a:off x="4492920" y="4940000"/>
            <a:ext cx="3220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26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사용자 이득</a:t>
            </a:r>
          </a:p>
          <a:p>
            <a:pPr algn="l">
              <a:buNone/>
            </a:pPr>
            <a:endParaRPr lang="ko-KR" dirty="0"/>
          </a:p>
          <a:p>
            <a:pPr algn="l">
              <a:buNone/>
            </a:pP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요금 부담 감소 </a:t>
            </a:r>
            <a:endParaRPr lang="en-US" altLang="ko-KR" sz="1600" b="0" dirty="0">
              <a:solidFill>
                <a:srgbClr val="6B7280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6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→ 구독 유지</a:t>
            </a:r>
            <a:endParaRPr lang="ko-KR" altLang="en-US" sz="1600" b="0" dirty="0">
              <a:solidFill>
                <a:srgbClr val="6B728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9" name="KW3_BG"/>
          <p:cNvSpPr/>
          <p:nvPr/>
        </p:nvSpPr>
        <p:spPr>
          <a:xfrm>
            <a:off x="8102920" y="4850000"/>
            <a:ext cx="3600000" cy="18000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60" name="KW3_text"/>
          <p:cNvSpPr txBox="1"/>
          <p:nvPr/>
        </p:nvSpPr>
        <p:spPr>
          <a:xfrm>
            <a:off x="8292920" y="4940000"/>
            <a:ext cx="3220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26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</a:rPr>
              <a:t>회사 이득</a:t>
            </a:r>
          </a:p>
          <a:p>
            <a:pPr algn="l">
              <a:buNone/>
            </a:pPr>
            <a:endParaRPr lang="ko-KR" dirty="0"/>
          </a:p>
          <a:p>
            <a:pPr algn="l">
              <a:buNone/>
            </a:pPr>
            <a:r>
              <a:rPr lang="ko-KR" altLang="en-US" sz="1600" b="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이탈 </a:t>
            </a:r>
            <a:r>
              <a:rPr lang="ko-KR" altLang="en-US" sz="16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방지 </a:t>
            </a:r>
            <a:r>
              <a:rPr lang="en-US" altLang="ko-KR" sz="16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+</a:t>
            </a:r>
            <a:endParaRPr lang="ko-KR" altLang="en-US" sz="1600" b="0" dirty="0">
              <a:solidFill>
                <a:srgbClr val="6B7280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6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</a:rPr>
              <a:t>광고주 수익 확보</a:t>
            </a:r>
            <a:endParaRPr lang="ko-KR" altLang="en-US" sz="1600" b="0" dirty="0">
              <a:solidFill>
                <a:srgbClr val="6B728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14ADA28-4B02-EECA-233D-C6CA55E6A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4" y="1619203"/>
            <a:ext cx="4305163" cy="3060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F43582BF-3527-5713-29C9-81B72C331CEC}"/>
              </a:ext>
            </a:extLst>
          </p:cNvPr>
          <p:cNvSpPr/>
          <p:nvPr/>
        </p:nvSpPr>
        <p:spPr>
          <a:xfrm>
            <a:off x="692920" y="4142791"/>
            <a:ext cx="4084353" cy="4593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Header_Bar"/>
          <p:cNvPicPr>
            <a:picLocks noChangeAspect="1"/>
          </p:cNvPicPr>
          <p:nvPr/>
        </p:nvPicPr>
        <p:blipFill>
          <a:blip r:embed="rId3"/>
          <a:srcRect l="-450" r="-450"/>
          <a:stretch/>
        </p:blipFill>
        <p:spPr>
          <a:xfrm>
            <a:off x="609905" y="476402"/>
            <a:ext cx="38405" cy="304495"/>
          </a:xfrm>
          <a:prstGeom prst="rect">
            <a:avLst/>
          </a:prstGeom>
        </p:spPr>
      </p:pic>
      <p:sp>
        <p:nvSpPr>
          <p:cNvPr id="6" name="Header_Label"/>
          <p:cNvSpPr txBox="1"/>
          <p:nvPr/>
        </p:nvSpPr>
        <p:spPr>
          <a:xfrm>
            <a:off x="800100" y="457200"/>
            <a:ext cx="11018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kumimoji="0" lang="en-US" sz="1800" b="1" i="0" u="none" strike="noStrike" kern="0" cap="none" spc="-36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</a:t>
            </a:r>
          </a:p>
        </p:txBody>
      </p:sp>
      <p:sp>
        <p:nvSpPr>
          <p:cNvPr id="51" name="Shape 44"/>
          <p:cNvSpPr/>
          <p:nvPr/>
        </p:nvSpPr>
        <p:spPr>
          <a:xfrm>
            <a:off x="5086807" y="1831305"/>
            <a:ext cx="3029407" cy="1920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5086807" y="1450000"/>
            <a:ext cx="962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(y)</a:t>
            </a:r>
            <a:endParaRPr lang="en-US" sz="1500" dirty="0"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25105" y="1497549"/>
            <a:ext cx="190195" cy="190195"/>
          </a:xfrm>
          <a:prstGeom prst="rect">
            <a:avLst/>
          </a:prstGeom>
        </p:spPr>
      </p:pic>
      <p:sp>
        <p:nvSpPr>
          <p:cNvPr id="54" name="Shape 46"/>
          <p:cNvSpPr/>
          <p:nvPr/>
        </p:nvSpPr>
        <p:spPr>
          <a:xfrm>
            <a:off x="5086807" y="2002298"/>
            <a:ext cx="3029407" cy="2866644"/>
          </a:xfrm>
          <a:prstGeom prst="roundRect">
            <a:avLst>
              <a:gd name="adj" fmla="val 3459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6" descr="preencoded.png"/>
          <p:cNvPicPr>
            <a:picLocks noChangeAspect="1"/>
          </p:cNvPicPr>
          <p:nvPr/>
        </p:nvPicPr>
        <p:blipFill>
          <a:blip r:embed="rId5"/>
          <a:srcRect l="-5556" r="-5556"/>
          <a:stretch/>
        </p:blipFill>
        <p:spPr>
          <a:xfrm>
            <a:off x="6314846" y="2518934"/>
            <a:ext cx="571500" cy="457200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817413" y="3013624"/>
            <a:ext cx="1575511" cy="1782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이용 빈도</a:t>
            </a:r>
            <a:endParaRPr lang="en-US" altLang="ko-KR" sz="19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ko-KR" alt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9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en-US" altLang="ko-KR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- </a:t>
            </a:r>
            <a:r>
              <a:rPr lang="ko-KR" altLang="en-US" sz="1900" b="1" dirty="0" err="1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저빈도</a:t>
            </a:r>
            <a:endParaRPr lang="en-US" altLang="ko-KR" sz="19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en-US" altLang="ko-KR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- </a:t>
            </a:r>
            <a:r>
              <a:rPr lang="ko-KR" altLang="en-US" sz="1900" b="1" dirty="0" err="1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중빈도</a:t>
            </a:r>
            <a:endParaRPr lang="en-US" altLang="ko-KR" sz="19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en-US" altLang="ko-KR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- </a:t>
            </a:r>
            <a:r>
              <a:rPr lang="ko-KR" altLang="en-US" sz="1900" b="1" dirty="0" err="1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고빈도</a:t>
            </a:r>
            <a:endParaRPr lang="en-US" altLang="ko-KR" sz="19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9" name="Shape 50"/>
          <p:cNvSpPr/>
          <p:nvPr/>
        </p:nvSpPr>
        <p:spPr>
          <a:xfrm>
            <a:off x="5086807" y="5031705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1"/>
          <p:cNvSpPr/>
          <p:nvPr/>
        </p:nvSpPr>
        <p:spPr>
          <a:xfrm>
            <a:off x="5086807" y="5031705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2"/>
          <p:cNvSpPr txBox="1"/>
          <p:nvPr/>
        </p:nvSpPr>
        <p:spPr>
          <a:xfrm>
            <a:off x="5277002" y="5193554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5277002" y="5402951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Classifier</a:t>
            </a:r>
            <a:endParaRPr lang="en-US" sz="1300" dirty="0"/>
          </a:p>
        </p:txBody>
      </p:sp>
      <p:sp>
        <p:nvSpPr>
          <p:cNvPr id="63" name="Shape 54"/>
          <p:cNvSpPr/>
          <p:nvPr/>
        </p:nvSpPr>
        <p:spPr>
          <a:xfrm>
            <a:off x="8401507" y="1831305"/>
            <a:ext cx="3029407" cy="1920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5"/>
          <p:cNvSpPr txBox="1"/>
          <p:nvPr/>
        </p:nvSpPr>
        <p:spPr>
          <a:xfrm>
            <a:off x="8401507" y="1450000"/>
            <a:ext cx="819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활용</a:t>
            </a:r>
            <a:endParaRPr lang="en-US" sz="150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239805" y="1497549"/>
            <a:ext cx="190195" cy="190195"/>
          </a:xfrm>
          <a:prstGeom prst="rect">
            <a:avLst/>
          </a:prstGeom>
        </p:spPr>
      </p:pic>
      <p:sp>
        <p:nvSpPr>
          <p:cNvPr id="66" name="Shape 56"/>
          <p:cNvSpPr/>
          <p:nvPr/>
        </p:nvSpPr>
        <p:spPr>
          <a:xfrm>
            <a:off x="8401507" y="2002297"/>
            <a:ext cx="3029407" cy="3820363"/>
          </a:xfrm>
          <a:prstGeom prst="roundRect">
            <a:avLst>
              <a:gd name="adj" fmla="val 303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57"/>
          <p:cNvSpPr/>
          <p:nvPr/>
        </p:nvSpPr>
        <p:spPr>
          <a:xfrm>
            <a:off x="9534449" y="2522591"/>
            <a:ext cx="761695" cy="761695"/>
          </a:xfrm>
          <a:prstGeom prst="ellipse">
            <a:avLst/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687154" y="2675296"/>
            <a:ext cx="457200" cy="457200"/>
          </a:xfrm>
          <a:prstGeom prst="rect">
            <a:avLst/>
          </a:prstGeom>
        </p:spPr>
      </p:pic>
      <p:sp>
        <p:nvSpPr>
          <p:cNvPr id="69" name="Text 58"/>
          <p:cNvSpPr txBox="1"/>
          <p:nvPr/>
        </p:nvSpPr>
        <p:spPr>
          <a:xfrm>
            <a:off x="8890711" y="3570494"/>
            <a:ext cx="205648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Frequency Group </a:t>
            </a:r>
          </a:p>
          <a:p>
            <a:pPr marL="0" indent="0" algn="ctr">
              <a:buNone/>
            </a:pPr>
            <a:r>
              <a:rPr lang="ko-KR" altLang="en-US" sz="16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endParaRPr lang="en-US" sz="1600" b="1" dirty="0">
              <a:solidFill>
                <a:srgbClr val="065F46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</p:txBody>
      </p:sp>
      <p:sp>
        <p:nvSpPr>
          <p:cNvPr id="70" name="Shape 59"/>
          <p:cNvSpPr/>
          <p:nvPr/>
        </p:nvSpPr>
        <p:spPr>
          <a:xfrm>
            <a:off x="8639251" y="4170340"/>
            <a:ext cx="2553005" cy="1133856"/>
          </a:xfrm>
          <a:prstGeom prst="roundRect">
            <a:avLst>
              <a:gd name="adj" fmla="val 16265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0"/>
          <p:cNvSpPr txBox="1"/>
          <p:nvPr/>
        </p:nvSpPr>
        <p:spPr>
          <a:xfrm>
            <a:off x="8801100" y="4370594"/>
            <a:ext cx="22293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이용 빈도를 이탈 위험의 </a:t>
            </a:r>
            <a:endParaRPr lang="en-US" altLang="ko-KR" sz="1200" dirty="0">
              <a:solidFill>
                <a:srgbClr val="04785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en-US" altLang="ko-KR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Proxy</a:t>
            </a:r>
            <a:r>
              <a:rPr lang="ko-KR" alt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로 활용</a:t>
            </a:r>
            <a:r>
              <a:rPr lang="en-US" altLang="ko-KR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,</a:t>
            </a: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위험군을 조기에 탐지하여</a:t>
            </a:r>
            <a:endParaRPr lang="en-US" altLang="ko-KR" sz="1200" dirty="0">
              <a:solidFill>
                <a:srgbClr val="04785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 algn="ctr">
              <a:buNone/>
            </a:pPr>
            <a:r>
              <a:rPr lang="ko-KR" alt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맞춤 마케팅 실행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" y="1450000"/>
            <a:ext cx="88605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(X)</a:t>
            </a:r>
          </a:p>
        </p:txBody>
      </p:sp>
      <p:sp>
        <p:nvSpPr>
          <p:cNvPr id="12" name="Shape 10"/>
          <p:cNvSpPr/>
          <p:nvPr/>
        </p:nvSpPr>
        <p:spPr>
          <a:xfrm>
            <a:off x="761695" y="1831305"/>
            <a:ext cx="403890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00" name="TableBox_300"/>
          <p:cNvSpPr/>
          <p:nvPr/>
        </p:nvSpPr>
        <p:spPr>
          <a:xfrm>
            <a:off x="789479" y="1885149"/>
            <a:ext cx="1960000" cy="1370000"/>
          </a:xfrm>
          <a:prstGeom prst="roundRect">
            <a:avLst>
              <a:gd name="adj" fmla="val 10808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01" name="TableLabel_301"/>
          <p:cNvSpPr txBox="1"/>
          <p:nvPr/>
        </p:nvSpPr>
        <p:spPr>
          <a:xfrm>
            <a:off x="847012" y="1894480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USERS</a:t>
            </a:r>
          </a:p>
        </p:txBody>
      </p:sp>
      <p:sp>
        <p:nvSpPr>
          <p:cNvPr id="310" name="ColBox_300_0"/>
          <p:cNvSpPr/>
          <p:nvPr/>
        </p:nvSpPr>
        <p:spPr>
          <a:xfrm>
            <a:off x="791695" y="219014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20" name="ColText_300_0"/>
          <p:cNvSpPr txBox="1"/>
          <p:nvPr/>
        </p:nvSpPr>
        <p:spPr>
          <a:xfrm>
            <a:off x="791695" y="219014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가족 구성</a:t>
            </a:r>
          </a:p>
        </p:txBody>
      </p:sp>
      <p:sp>
        <p:nvSpPr>
          <p:cNvPr id="311" name="ColBox_300_1"/>
          <p:cNvSpPr/>
          <p:nvPr/>
        </p:nvSpPr>
        <p:spPr>
          <a:xfrm>
            <a:off x="1766695" y="219014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21" name="ColText_300_1"/>
          <p:cNvSpPr txBox="1"/>
          <p:nvPr/>
        </p:nvSpPr>
        <p:spPr>
          <a:xfrm>
            <a:off x="1766695" y="219014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연령대</a:t>
            </a:r>
          </a:p>
        </p:txBody>
      </p:sp>
      <p:sp>
        <p:nvSpPr>
          <p:cNvPr id="340" name="TableBox_340"/>
          <p:cNvSpPr/>
          <p:nvPr/>
        </p:nvSpPr>
        <p:spPr>
          <a:xfrm>
            <a:off x="2780600" y="1870148"/>
            <a:ext cx="1960000" cy="1372481"/>
          </a:xfrm>
          <a:prstGeom prst="roundRect">
            <a:avLst>
              <a:gd name="adj" fmla="val 10808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41" name="TableLabel_341"/>
          <p:cNvSpPr txBox="1"/>
          <p:nvPr/>
        </p:nvSpPr>
        <p:spPr>
          <a:xfrm>
            <a:off x="2800600" y="1885149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</a:rPr>
              <a:t>ECONOMY_INFO</a:t>
            </a:r>
          </a:p>
        </p:txBody>
      </p:sp>
      <p:sp>
        <p:nvSpPr>
          <p:cNvPr id="350" name="ColBox_340_0"/>
          <p:cNvSpPr/>
          <p:nvPr/>
        </p:nvSpPr>
        <p:spPr>
          <a:xfrm>
            <a:off x="2810600" y="219014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60" name="ColText_340_0"/>
          <p:cNvSpPr txBox="1"/>
          <p:nvPr/>
        </p:nvSpPr>
        <p:spPr>
          <a:xfrm>
            <a:off x="2810600" y="219014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가구 소득</a:t>
            </a:r>
          </a:p>
        </p:txBody>
      </p:sp>
      <p:sp>
        <p:nvSpPr>
          <p:cNvPr id="351" name="ColBox_340_1"/>
          <p:cNvSpPr/>
          <p:nvPr/>
        </p:nvSpPr>
        <p:spPr>
          <a:xfrm>
            <a:off x="3785600" y="219014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61" name="ColText_340_1"/>
          <p:cNvSpPr txBox="1"/>
          <p:nvPr/>
        </p:nvSpPr>
        <p:spPr>
          <a:xfrm>
            <a:off x="3785600" y="219014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한달 구독료</a:t>
            </a:r>
          </a:p>
        </p:txBody>
      </p:sp>
      <p:sp>
        <p:nvSpPr>
          <p:cNvPr id="380" name="TableBox_380"/>
          <p:cNvSpPr/>
          <p:nvPr/>
        </p:nvSpPr>
        <p:spPr>
          <a:xfrm>
            <a:off x="780696" y="3255148"/>
            <a:ext cx="1960000" cy="1331725"/>
          </a:xfrm>
          <a:prstGeom prst="roundRect">
            <a:avLst>
              <a:gd name="adj" fmla="val 10808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381" name="TableLabel_381"/>
          <p:cNvSpPr txBox="1"/>
          <p:nvPr/>
        </p:nvSpPr>
        <p:spPr>
          <a:xfrm>
            <a:off x="820696" y="3277649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</a:rPr>
              <a:t>USAGE_TIME</a:t>
            </a:r>
          </a:p>
        </p:txBody>
      </p:sp>
      <p:sp>
        <p:nvSpPr>
          <p:cNvPr id="420" name="TableBox_420"/>
          <p:cNvSpPr/>
          <p:nvPr/>
        </p:nvSpPr>
        <p:spPr>
          <a:xfrm>
            <a:off x="2780600" y="3254855"/>
            <a:ext cx="1960000" cy="1365064"/>
          </a:xfrm>
          <a:prstGeom prst="roundRect">
            <a:avLst>
              <a:gd name="adj" fmla="val 10808"/>
            </a:avLst>
          </a:prstGeom>
          <a:solidFill>
            <a:srgbClr val="FDF4FF"/>
          </a:solidFill>
          <a:ln w="12700">
            <a:solidFill>
              <a:srgbClr val="E9D5FF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421" name="TableLabel_421"/>
          <p:cNvSpPr txBox="1"/>
          <p:nvPr/>
        </p:nvSpPr>
        <p:spPr>
          <a:xfrm>
            <a:off x="2880600" y="3280606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22CE"/>
                </a:solidFill>
                <a:latin typeface="Noto Sans KR" pitchFamily="34" charset="0"/>
                <a:ea typeface="Noto Sans KR" pitchFamily="34" charset="-122"/>
              </a:rPr>
              <a:t>CONTENT_STYLE</a:t>
            </a:r>
          </a:p>
        </p:txBody>
      </p:sp>
      <p:sp>
        <p:nvSpPr>
          <p:cNvPr id="430" name="ColBox_420_0"/>
          <p:cNvSpPr/>
          <p:nvPr/>
        </p:nvSpPr>
        <p:spPr>
          <a:xfrm>
            <a:off x="2813276" y="3566166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431" name="ColBox_420_1"/>
          <p:cNvSpPr/>
          <p:nvPr/>
        </p:nvSpPr>
        <p:spPr>
          <a:xfrm>
            <a:off x="3767607" y="3565441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460" name="TableBox_460"/>
          <p:cNvSpPr/>
          <p:nvPr/>
        </p:nvSpPr>
        <p:spPr>
          <a:xfrm>
            <a:off x="789479" y="4623332"/>
            <a:ext cx="1960000" cy="1324225"/>
          </a:xfrm>
          <a:prstGeom prst="roundRect">
            <a:avLst>
              <a:gd name="adj" fmla="val 10808"/>
            </a:avLst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461" name="TableLabel_461"/>
          <p:cNvSpPr txBox="1"/>
          <p:nvPr/>
        </p:nvSpPr>
        <p:spPr>
          <a:xfrm>
            <a:off x="829019" y="4659790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369A1"/>
                </a:solidFill>
                <a:latin typeface="Noto Sans KR" pitchFamily="34" charset="0"/>
                <a:ea typeface="Noto Sans KR" pitchFamily="34" charset="-122"/>
              </a:rPr>
              <a:t>PLATFORM_HABIT</a:t>
            </a:r>
          </a:p>
        </p:txBody>
      </p:sp>
      <p:sp>
        <p:nvSpPr>
          <p:cNvPr id="500" name="TableBox_500"/>
          <p:cNvSpPr/>
          <p:nvPr/>
        </p:nvSpPr>
        <p:spPr>
          <a:xfrm>
            <a:off x="2749479" y="4639561"/>
            <a:ext cx="1960000" cy="1307995"/>
          </a:xfrm>
          <a:prstGeom prst="roundRect">
            <a:avLst>
              <a:gd name="adj" fmla="val 10808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501" name="TableLabel_501"/>
          <p:cNvSpPr txBox="1"/>
          <p:nvPr/>
        </p:nvSpPr>
        <p:spPr>
          <a:xfrm>
            <a:off x="2780600" y="4699561"/>
            <a:ext cx="192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E123C"/>
                </a:solidFill>
                <a:latin typeface="Noto Sans KR" pitchFamily="34" charset="0"/>
                <a:ea typeface="Noto Sans KR" pitchFamily="34" charset="-122"/>
              </a:rPr>
              <a:t>PSYCHOGRAPHIC</a:t>
            </a:r>
          </a:p>
        </p:txBody>
      </p:sp>
      <p:sp>
        <p:nvSpPr>
          <p:cNvPr id="510" name="ColBox_500_0"/>
          <p:cNvSpPr/>
          <p:nvPr/>
        </p:nvSpPr>
        <p:spPr>
          <a:xfrm>
            <a:off x="2825600" y="4979203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511" name="ColBox_500_1"/>
          <p:cNvSpPr/>
          <p:nvPr/>
        </p:nvSpPr>
        <p:spPr>
          <a:xfrm>
            <a:off x="3756078" y="4979202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0" name="ColBox_460_0">
            <a:extLst>
              <a:ext uri="{FF2B5EF4-FFF2-40B4-BE49-F238E27FC236}">
                <a16:creationId xmlns:a16="http://schemas.microsoft.com/office/drawing/2014/main" id="{C094CCE2-FDAD-12B8-BB5D-B5741EC6F2E8}"/>
              </a:ext>
            </a:extLst>
          </p:cNvPr>
          <p:cNvSpPr/>
          <p:nvPr/>
        </p:nvSpPr>
        <p:spPr>
          <a:xfrm>
            <a:off x="798568" y="4964556"/>
            <a:ext cx="953126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1" name="ColText_460_0">
            <a:extLst>
              <a:ext uri="{FF2B5EF4-FFF2-40B4-BE49-F238E27FC236}">
                <a16:creationId xmlns:a16="http://schemas.microsoft.com/office/drawing/2014/main" id="{38D8199B-419B-BB15-138B-59FAB91049AE}"/>
              </a:ext>
            </a:extLst>
          </p:cNvPr>
          <p:cNvSpPr txBox="1"/>
          <p:nvPr/>
        </p:nvSpPr>
        <p:spPr>
          <a:xfrm>
            <a:off x="798567" y="4970970"/>
            <a:ext cx="953127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탐색형 지수</a:t>
            </a:r>
          </a:p>
        </p:txBody>
      </p:sp>
      <p:sp>
        <p:nvSpPr>
          <p:cNvPr id="14" name="ColBox_460_1">
            <a:extLst>
              <a:ext uri="{FF2B5EF4-FFF2-40B4-BE49-F238E27FC236}">
                <a16:creationId xmlns:a16="http://schemas.microsoft.com/office/drawing/2014/main" id="{D9B22204-A188-9B32-F179-BD0711E5A2E5}"/>
              </a:ext>
            </a:extLst>
          </p:cNvPr>
          <p:cNvSpPr/>
          <p:nvPr/>
        </p:nvSpPr>
        <p:spPr>
          <a:xfrm>
            <a:off x="820696" y="5365461"/>
            <a:ext cx="930998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5" name="ColText_460_1">
            <a:extLst>
              <a:ext uri="{FF2B5EF4-FFF2-40B4-BE49-F238E27FC236}">
                <a16:creationId xmlns:a16="http://schemas.microsoft.com/office/drawing/2014/main" id="{814226C1-CD3A-3DEF-08AA-AE390D996761}"/>
              </a:ext>
            </a:extLst>
          </p:cNvPr>
          <p:cNvSpPr txBox="1"/>
          <p:nvPr/>
        </p:nvSpPr>
        <p:spPr>
          <a:xfrm>
            <a:off x="809272" y="5364670"/>
            <a:ext cx="909458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추천 </a:t>
            </a:r>
            <a:r>
              <a:rPr lang="ko-KR" altLang="en-US" sz="80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시청 성향</a:t>
            </a:r>
            <a:endParaRPr lang="ko-KR" altLang="en-US" sz="8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6" name="ColBox_460_2">
            <a:extLst>
              <a:ext uri="{FF2B5EF4-FFF2-40B4-BE49-F238E27FC236}">
                <a16:creationId xmlns:a16="http://schemas.microsoft.com/office/drawing/2014/main" id="{31C47016-D836-0929-3BD1-EA5E70FC3616}"/>
              </a:ext>
            </a:extLst>
          </p:cNvPr>
          <p:cNvSpPr/>
          <p:nvPr/>
        </p:nvSpPr>
        <p:spPr>
          <a:xfrm>
            <a:off x="1768568" y="4964556"/>
            <a:ext cx="94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ColText_460_2">
            <a:extLst>
              <a:ext uri="{FF2B5EF4-FFF2-40B4-BE49-F238E27FC236}">
                <a16:creationId xmlns:a16="http://schemas.microsoft.com/office/drawing/2014/main" id="{4A74511B-3C50-6D6B-7B4A-1D20ED80E061}"/>
              </a:ext>
            </a:extLst>
          </p:cNvPr>
          <p:cNvSpPr txBox="1"/>
          <p:nvPr/>
        </p:nvSpPr>
        <p:spPr>
          <a:xfrm>
            <a:off x="1768567" y="4957407"/>
            <a:ext cx="939999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체리피킹</a:t>
            </a: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지수</a:t>
            </a:r>
          </a:p>
        </p:txBody>
      </p:sp>
      <p:sp>
        <p:nvSpPr>
          <p:cNvPr id="18" name="ColBox_460_3">
            <a:extLst>
              <a:ext uri="{FF2B5EF4-FFF2-40B4-BE49-F238E27FC236}">
                <a16:creationId xmlns:a16="http://schemas.microsoft.com/office/drawing/2014/main" id="{AB01A2FA-A237-C0F3-089B-E7FAE918F0FA}"/>
              </a:ext>
            </a:extLst>
          </p:cNvPr>
          <p:cNvSpPr/>
          <p:nvPr/>
        </p:nvSpPr>
        <p:spPr>
          <a:xfrm>
            <a:off x="1780696" y="5372163"/>
            <a:ext cx="927872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9" name="ColText_460_3">
            <a:extLst>
              <a:ext uri="{FF2B5EF4-FFF2-40B4-BE49-F238E27FC236}">
                <a16:creationId xmlns:a16="http://schemas.microsoft.com/office/drawing/2014/main" id="{35798907-A7B6-42EC-C041-BA117FB55B37}"/>
              </a:ext>
            </a:extLst>
          </p:cNvPr>
          <p:cNvSpPr txBox="1"/>
          <p:nvPr/>
        </p:nvSpPr>
        <p:spPr>
          <a:xfrm>
            <a:off x="1794843" y="5373489"/>
            <a:ext cx="892628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구독 </a:t>
            </a:r>
            <a:r>
              <a:rPr lang="ko-KR" altLang="en-US" sz="8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오티티</a:t>
            </a: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수</a:t>
            </a:r>
          </a:p>
        </p:txBody>
      </p:sp>
      <p:sp>
        <p:nvSpPr>
          <p:cNvPr id="20" name="ColBox_380_0">
            <a:extLst>
              <a:ext uri="{FF2B5EF4-FFF2-40B4-BE49-F238E27FC236}">
                <a16:creationId xmlns:a16="http://schemas.microsoft.com/office/drawing/2014/main" id="{D7E2AA1B-FD37-E43A-BE5E-6F052D9F3991}"/>
              </a:ext>
            </a:extLst>
          </p:cNvPr>
          <p:cNvSpPr/>
          <p:nvPr/>
        </p:nvSpPr>
        <p:spPr>
          <a:xfrm>
            <a:off x="791695" y="358463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1" name="ColText_380_0">
            <a:extLst>
              <a:ext uri="{FF2B5EF4-FFF2-40B4-BE49-F238E27FC236}">
                <a16:creationId xmlns:a16="http://schemas.microsoft.com/office/drawing/2014/main" id="{4E273091-7F58-C6F1-5658-D28E1DB6DFDA}"/>
              </a:ext>
            </a:extLst>
          </p:cNvPr>
          <p:cNvSpPr txBox="1"/>
          <p:nvPr/>
        </p:nvSpPr>
        <p:spPr>
          <a:xfrm>
            <a:off x="791695" y="358463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일주일 총 이용시간</a:t>
            </a:r>
          </a:p>
        </p:txBody>
      </p:sp>
      <p:sp>
        <p:nvSpPr>
          <p:cNvPr id="22" name="ColBox_380_1">
            <a:extLst>
              <a:ext uri="{FF2B5EF4-FFF2-40B4-BE49-F238E27FC236}">
                <a16:creationId xmlns:a16="http://schemas.microsoft.com/office/drawing/2014/main" id="{9C555930-DFA0-F5A7-56B1-3ECB92AAE7D3}"/>
              </a:ext>
            </a:extLst>
          </p:cNvPr>
          <p:cNvSpPr/>
          <p:nvPr/>
        </p:nvSpPr>
        <p:spPr>
          <a:xfrm>
            <a:off x="1766695" y="3584639"/>
            <a:ext cx="960000" cy="230000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3" name="ColText_380_1">
            <a:extLst>
              <a:ext uri="{FF2B5EF4-FFF2-40B4-BE49-F238E27FC236}">
                <a16:creationId xmlns:a16="http://schemas.microsoft.com/office/drawing/2014/main" id="{E53E6FF3-5169-7A2A-C8DC-F926091E17A4}"/>
              </a:ext>
            </a:extLst>
          </p:cNvPr>
          <p:cNvSpPr txBox="1"/>
          <p:nvPr/>
        </p:nvSpPr>
        <p:spPr>
          <a:xfrm>
            <a:off x="1766695" y="358463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최근 일주일 시청 여부</a:t>
            </a:r>
          </a:p>
        </p:txBody>
      </p:sp>
      <p:sp>
        <p:nvSpPr>
          <p:cNvPr id="24" name="ColText_500_0">
            <a:extLst>
              <a:ext uri="{FF2B5EF4-FFF2-40B4-BE49-F238E27FC236}">
                <a16:creationId xmlns:a16="http://schemas.microsoft.com/office/drawing/2014/main" id="{A2F18DE8-0F83-8486-31EF-599BD4A83A7D}"/>
              </a:ext>
            </a:extLst>
          </p:cNvPr>
          <p:cNvSpPr txBox="1"/>
          <p:nvPr/>
        </p:nvSpPr>
        <p:spPr>
          <a:xfrm>
            <a:off x="2800600" y="4995785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몰아보기 성향</a:t>
            </a:r>
          </a:p>
        </p:txBody>
      </p:sp>
      <p:sp>
        <p:nvSpPr>
          <p:cNvPr id="25" name="ColText_500_1">
            <a:extLst>
              <a:ext uri="{FF2B5EF4-FFF2-40B4-BE49-F238E27FC236}">
                <a16:creationId xmlns:a16="http://schemas.microsoft.com/office/drawing/2014/main" id="{E17C786F-A597-3173-4613-DCB32D4A101F}"/>
              </a:ext>
            </a:extLst>
          </p:cNvPr>
          <p:cNvSpPr txBox="1"/>
          <p:nvPr/>
        </p:nvSpPr>
        <p:spPr>
          <a:xfrm>
            <a:off x="3755040" y="4971455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사용 기기 수</a:t>
            </a:r>
          </a:p>
        </p:txBody>
      </p:sp>
      <p:sp>
        <p:nvSpPr>
          <p:cNvPr id="26" name="ColText_420_1">
            <a:extLst>
              <a:ext uri="{FF2B5EF4-FFF2-40B4-BE49-F238E27FC236}">
                <a16:creationId xmlns:a16="http://schemas.microsoft.com/office/drawing/2014/main" id="{B467F0C5-D2E6-D34B-D4FC-967A3ED51EF8}"/>
              </a:ext>
            </a:extLst>
          </p:cNvPr>
          <p:cNvSpPr txBox="1"/>
          <p:nvPr/>
        </p:nvSpPr>
        <p:spPr>
          <a:xfrm>
            <a:off x="3733945" y="3574656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8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숏폼</a:t>
            </a: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선호도</a:t>
            </a:r>
          </a:p>
        </p:txBody>
      </p:sp>
      <p:sp>
        <p:nvSpPr>
          <p:cNvPr id="27" name="ColText_420_0">
            <a:extLst>
              <a:ext uri="{FF2B5EF4-FFF2-40B4-BE49-F238E27FC236}">
                <a16:creationId xmlns:a16="http://schemas.microsoft.com/office/drawing/2014/main" id="{E50BD449-1F26-294A-0854-1C8DBDEC752D}"/>
              </a:ext>
            </a:extLst>
          </p:cNvPr>
          <p:cNvSpPr txBox="1"/>
          <p:nvPr/>
        </p:nvSpPr>
        <p:spPr>
          <a:xfrm>
            <a:off x="2775952" y="3584639"/>
            <a:ext cx="960000" cy="230000"/>
          </a:xfrm>
          <a:prstGeom prst="rect">
            <a:avLst/>
          </a:prstGeom>
          <a:noFill/>
          <a:ln/>
        </p:spPr>
        <p:txBody>
          <a:bodyPr wrap="square" lIns="57150" tIns="0" rIns="57150" bIns="0" rtlCol="0" anchor="ctr"/>
          <a:lstStyle/>
          <a:p>
            <a:pPr marL="0" indent="0" algn="ctr">
              <a:buNone/>
            </a:pP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오리지널</a:t>
            </a:r>
            <a:r>
              <a:rPr lang="en-US" altLang="ko-KR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8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영화 선호도</a:t>
            </a:r>
          </a:p>
        </p:txBody>
      </p:sp>
      <p:sp>
        <p:nvSpPr>
          <p:cNvPr id="3" name="SubTitle_BG"/>
          <p:cNvSpPr/>
          <p:nvPr/>
        </p:nvSpPr>
        <p:spPr>
          <a:xfrm>
            <a:off x="457200" y="1070000"/>
            <a:ext cx="2500000" cy="310000"/>
          </a:xfrm>
          <a:prstGeom prst="roundRect">
            <a:avLst>
              <a:gd name="adj" fmla="val 137500"/>
            </a:avLst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8" name="SubTitle_Text"/>
          <p:cNvSpPr txBox="1"/>
          <p:nvPr/>
        </p:nvSpPr>
        <p:spPr>
          <a:xfrm>
            <a:off x="457200" y="1070000"/>
            <a:ext cx="2500000" cy="310000"/>
          </a:xfrm>
          <a:prstGeom prst="rect">
            <a:avLst/>
          </a:prstGeom>
          <a:noFill/>
          <a:ln/>
        </p:spPr>
        <p:txBody>
          <a:bodyPr wrap="square" lIns="114300" tIns="45720" rIns="114300" bIns="45720" rtlCol="0" anchor="ctr"/>
          <a:lstStyle/>
          <a:p>
            <a:pPr algn="l">
              <a:buNone/>
            </a:pPr>
            <a:r>
              <a:rPr lang="ko-KR" altLang="en-US" sz="16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</a:rPr>
              <a:t>머신러닝 모델 설계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Header_Bar"/>
          <p:cNvPicPr>
            <a:picLocks noChangeAspect="1"/>
          </p:cNvPicPr>
          <p:nvPr/>
        </p:nvPicPr>
        <p:blipFill>
          <a:blip r:embed="rId2"/>
          <a:srcRect l="-450" r="-450"/>
          <a:stretch/>
        </p:blipFill>
        <p:spPr>
          <a:xfrm>
            <a:off x="609905" y="476402"/>
            <a:ext cx="38405" cy="304495"/>
          </a:xfrm>
          <a:prstGeom prst="rect">
            <a:avLst/>
          </a:prstGeom>
        </p:spPr>
      </p:pic>
      <p:sp>
        <p:nvSpPr>
          <p:cNvPr id="6" name="Header_Label"/>
          <p:cNvSpPr txBox="1"/>
          <p:nvPr/>
        </p:nvSpPr>
        <p:spPr>
          <a:xfrm>
            <a:off x="800100" y="457200"/>
            <a:ext cx="11018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kumimoji="0" lang="en-US" sz="1800" b="1" i="0" u="none" strike="noStrike" kern="0" cap="none" spc="-36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</a:t>
            </a:r>
          </a:p>
        </p:txBody>
      </p:sp>
      <p:sp>
        <p:nvSpPr>
          <p:cNvPr id="101" name="Step1_BG"/>
          <p:cNvSpPr/>
          <p:nvPr/>
        </p:nvSpPr>
        <p:spPr>
          <a:xfrm>
            <a:off x="457200" y="1795247"/>
            <a:ext cx="3200000" cy="33000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03" name="Step1_num"/>
          <p:cNvSpPr txBox="1"/>
          <p:nvPr/>
        </p:nvSpPr>
        <p:spPr>
          <a:xfrm>
            <a:off x="647200" y="1925247"/>
            <a:ext cx="28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200" b="1" dirty="0">
                <a:solidFill>
                  <a:srgbClr val="7C3AED"/>
                </a:solidFill>
                <a:latin typeface="Noto Sans KR" pitchFamily="34" charset="0"/>
              </a:rPr>
              <a:t>STEP 01</a:t>
            </a:r>
          </a:p>
        </p:txBody>
      </p:sp>
      <p:sp>
        <p:nvSpPr>
          <p:cNvPr id="104" name="Step1_title"/>
          <p:cNvSpPr txBox="1"/>
          <p:nvPr/>
        </p:nvSpPr>
        <p:spPr>
          <a:xfrm>
            <a:off x="647200" y="2215247"/>
            <a:ext cx="282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2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유저 정보 입력</a:t>
            </a:r>
          </a:p>
        </p:txBody>
      </p:sp>
      <p:sp>
        <p:nvSpPr>
          <p:cNvPr id="105" name="Step1_desc"/>
          <p:cNvSpPr txBox="1"/>
          <p:nvPr/>
        </p:nvSpPr>
        <p:spPr>
          <a:xfrm>
            <a:off x="647200" y="2625247"/>
            <a:ext cx="2820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en-US" altLang="ko-KR" sz="13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Input</a:t>
            </a:r>
            <a:r>
              <a:rPr lang="ko-KR" altLang="en-US" sz="13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3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</a:rPr>
              <a:t>Form</a:t>
            </a:r>
            <a:endParaRPr lang="ko-KR" altLang="en-US" sz="1300" b="1" dirty="0">
              <a:solidFill>
                <a:srgbClr val="5B21B6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endParaRPr lang="ko-KR" altLang="en-US" dirty="0"/>
          </a:p>
          <a:p>
            <a:pPr algn="l">
              <a:buNone/>
            </a:pP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마케터가 이용패턴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, </a:t>
            </a:r>
          </a:p>
          <a:p>
            <a:pPr algn="l">
              <a:buNone/>
            </a:pP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구독 정보 등 데이터를 입력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파생 변수 자동 계산</a:t>
            </a: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(TOTAL_MIN, EXPLORE_IDX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등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)</a:t>
            </a:r>
            <a:endParaRPr lang="ko-KR" altLang="en-US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0" name="Arrow1"/>
          <p:cNvSpPr/>
          <p:nvPr/>
        </p:nvSpPr>
        <p:spPr>
          <a:xfrm>
            <a:off x="3800000" y="3345247"/>
            <a:ext cx="609600" cy="457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1" name="Step2_BG"/>
          <p:cNvSpPr/>
          <p:nvPr/>
        </p:nvSpPr>
        <p:spPr>
          <a:xfrm>
            <a:off x="4571400" y="1795247"/>
            <a:ext cx="3200000" cy="33000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13" name="Step2_num"/>
          <p:cNvSpPr txBox="1"/>
          <p:nvPr/>
        </p:nvSpPr>
        <p:spPr>
          <a:xfrm>
            <a:off x="4761400" y="1925247"/>
            <a:ext cx="28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</a:rPr>
              <a:t>STEP 02</a:t>
            </a:r>
          </a:p>
        </p:txBody>
      </p:sp>
      <p:sp>
        <p:nvSpPr>
          <p:cNvPr id="114" name="Step2_title"/>
          <p:cNvSpPr txBox="1"/>
          <p:nvPr/>
        </p:nvSpPr>
        <p:spPr>
          <a:xfrm>
            <a:off x="4761400" y="2215247"/>
            <a:ext cx="282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2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이탈 </a:t>
            </a:r>
            <a:r>
              <a:rPr lang="ko-KR" altLang="en-US" sz="20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위험군</a:t>
            </a:r>
            <a:r>
              <a:rPr lang="ko-KR" altLang="en-US" sz="2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 분류</a:t>
            </a:r>
          </a:p>
        </p:txBody>
      </p:sp>
      <p:sp>
        <p:nvSpPr>
          <p:cNvPr id="115" name="Step2_desc"/>
          <p:cNvSpPr txBox="1"/>
          <p:nvPr/>
        </p:nvSpPr>
        <p:spPr>
          <a:xfrm>
            <a:off x="4761400" y="2625247"/>
            <a:ext cx="2820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300" b="1" dirty="0" err="1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R</a:t>
            </a:r>
            <a:r>
              <a:rPr lang="en-US" altLang="ko-KR" sz="13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</a:rPr>
              <a:t>F Classifier</a:t>
            </a:r>
          </a:p>
          <a:p>
            <a:pPr algn="l">
              <a:buNone/>
            </a:pPr>
            <a:endParaRPr lang="en-US" altLang="ko-KR" b="1" dirty="0">
              <a:solidFill>
                <a:srgbClr val="047857"/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en-US" altLang="ko-KR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Random_forest.pkl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로</a:t>
            </a: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FREQ_GROUP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예측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buNone/>
            </a:pP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고빈도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 / </a:t>
            </a: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중빈도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/ </a:t>
            </a: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저빈도</a:t>
            </a: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3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개 그룹으로 분류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endParaRPr lang="en-US" altLang="ko-KR" dirty="0"/>
          </a:p>
          <a:p>
            <a:pPr algn="l">
              <a:buNone/>
            </a:pPr>
            <a:endParaRPr lang="ko-KR" dirty="0"/>
          </a:p>
        </p:txBody>
      </p:sp>
      <p:sp>
        <p:nvSpPr>
          <p:cNvPr id="120" name="Arrow2"/>
          <p:cNvSpPr/>
          <p:nvPr/>
        </p:nvSpPr>
        <p:spPr>
          <a:xfrm>
            <a:off x="7914000" y="3345247"/>
            <a:ext cx="609600" cy="457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1" name="Step3_BG"/>
          <p:cNvSpPr/>
          <p:nvPr/>
        </p:nvSpPr>
        <p:spPr>
          <a:xfrm>
            <a:off x="8685600" y="1795247"/>
            <a:ext cx="3200000" cy="33000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3" name="Step3_num"/>
          <p:cNvSpPr txBox="1"/>
          <p:nvPr/>
        </p:nvSpPr>
        <p:spPr>
          <a:xfrm>
            <a:off x="8875600" y="1925247"/>
            <a:ext cx="282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</a:rPr>
              <a:t>STEP 03</a:t>
            </a:r>
          </a:p>
        </p:txBody>
      </p:sp>
      <p:sp>
        <p:nvSpPr>
          <p:cNvPr id="124" name="Step3_title"/>
          <p:cNvSpPr txBox="1"/>
          <p:nvPr/>
        </p:nvSpPr>
        <p:spPr>
          <a:xfrm>
            <a:off x="8875600" y="2215247"/>
            <a:ext cx="282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ko-KR" altLang="en-US" sz="2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</a:rPr>
              <a:t>마케팅 액션 제안</a:t>
            </a:r>
          </a:p>
        </p:txBody>
      </p:sp>
      <p:sp>
        <p:nvSpPr>
          <p:cNvPr id="125" name="Step3_desc"/>
          <p:cNvSpPr txBox="1"/>
          <p:nvPr/>
        </p:nvSpPr>
        <p:spPr>
          <a:xfrm>
            <a:off x="8875600" y="2625247"/>
            <a:ext cx="282000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en-US" altLang="ko-KR" sz="13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Action</a:t>
            </a:r>
            <a:r>
              <a:rPr lang="ko-KR" altLang="en-US" sz="13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 Output</a:t>
            </a:r>
          </a:p>
          <a:p>
            <a:pPr algn="l">
              <a:buNone/>
            </a:pPr>
            <a:endParaRPr lang="ko-KR" dirty="0"/>
          </a:p>
          <a:p>
            <a:pPr algn="l">
              <a:buNone/>
            </a:pP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고빈도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신규 콘텐츠 알림 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/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지속 구독 유지</a:t>
            </a: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중빈도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광고형 요금제 프로모션 제공</a:t>
            </a: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endParaRPr lang="en-US" altLang="ko-KR" sz="1200" b="1" dirty="0">
              <a:solidFill>
                <a:schemeClr val="accent3">
                  <a:lumMod val="50000"/>
                </a:schemeClr>
              </a:solidFill>
              <a:latin typeface="Noto Sans KR" pitchFamily="34" charset="0"/>
              <a:ea typeface="Noto Sans KR" pitchFamily="34" charset="-122"/>
            </a:endParaRPr>
          </a:p>
          <a:p>
            <a:pPr algn="l">
              <a:buNone/>
            </a:pPr>
            <a:r>
              <a:rPr lang="ko-KR" altLang="en-US" sz="1200" b="1" dirty="0" err="1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저빈도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chemeClr val="accent3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</a:rPr>
              <a:t>구독료 할인 쿠폰 발급 </a:t>
            </a:r>
          </a:p>
          <a:p>
            <a:pPr algn="l">
              <a:buNone/>
            </a:pPr>
            <a:endParaRPr lang="ko-KR" altLang="en-US" sz="1200" b="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0" name="Bottom_bar"/>
          <p:cNvSpPr/>
          <p:nvPr/>
        </p:nvSpPr>
        <p:spPr>
          <a:xfrm>
            <a:off x="457200" y="5945247"/>
            <a:ext cx="114300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00" name="Bottom_BG"/>
          <p:cNvSpPr/>
          <p:nvPr/>
        </p:nvSpPr>
        <p:spPr>
          <a:xfrm>
            <a:off x="457200" y="5395247"/>
            <a:ext cx="11430000" cy="4200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699" name="Bottom_Text"/>
          <p:cNvSpPr txBox="1"/>
          <p:nvPr/>
        </p:nvSpPr>
        <p:spPr>
          <a:xfrm>
            <a:off x="345228" y="5435247"/>
            <a:ext cx="11430000" cy="380000"/>
          </a:xfrm>
          <a:prstGeom prst="rect">
            <a:avLst/>
          </a:prstGeom>
          <a:noFill/>
          <a:ln/>
        </p:spPr>
        <p:txBody>
          <a:bodyPr wrap="square" lIns="114300" tIns="45720" rIns="114300" bIns="45720" rtlCol="0" anchor="ctr"/>
          <a:lstStyle/>
          <a:p>
            <a:pPr algn="ctr"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유저 정보 입력 → 이탈 </a:t>
            </a:r>
            <a:r>
              <a:rPr lang="ko-KR" altLang="en-US" sz="1500" b="1" dirty="0" err="1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위험군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</a:rPr>
              <a:t> 자동 분류 → 그룹별 마케팅 액션 즉시 제안</a:t>
            </a:r>
          </a:p>
        </p:txBody>
      </p:sp>
      <p:sp>
        <p:nvSpPr>
          <p:cNvPr id="500" name="SubTitle_BG"/>
          <p:cNvSpPr/>
          <p:nvPr/>
        </p:nvSpPr>
        <p:spPr>
          <a:xfrm>
            <a:off x="457200" y="1070000"/>
            <a:ext cx="2900000" cy="310000"/>
          </a:xfrm>
          <a:prstGeom prst="roundRect">
            <a:avLst>
              <a:gd name="adj" fmla="val 137500"/>
            </a:avLst>
          </a:prstGeom>
          <a:solidFill>
            <a:srgbClr val="F5F3FF"/>
          </a:solidFill>
          <a:ln w="19050">
            <a:solidFill>
              <a:srgbClr val="DDD6FE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501" name="SubTitle_Text"/>
          <p:cNvSpPr txBox="1"/>
          <p:nvPr/>
        </p:nvSpPr>
        <p:spPr>
          <a:xfrm>
            <a:off x="457200" y="1070000"/>
            <a:ext cx="2900000" cy="310000"/>
          </a:xfrm>
          <a:prstGeom prst="rect">
            <a:avLst/>
          </a:prstGeom>
          <a:noFill/>
          <a:ln/>
        </p:spPr>
        <p:txBody>
          <a:bodyPr wrap="square" lIns="114300" tIns="45720" rIns="114300" bIns="45720" rtlCol="0" anchor="ctr"/>
          <a:lstStyle/>
          <a:p>
            <a:pPr algn="l">
              <a:buNone/>
            </a:pPr>
            <a:r>
              <a:rPr lang="ko-KR" altLang="en-US" sz="16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</a:rPr>
              <a:t>그룹별 마케팅 액션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1234</TotalTime>
  <Words>318</Words>
  <Application>Microsoft Office PowerPoint</Application>
  <PresentationFormat>와이드스크린</PresentationFormat>
  <Paragraphs>105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 J</cp:lastModifiedBy>
  <cp:revision>20</cp:revision>
  <dcterms:created xsi:type="dcterms:W3CDTF">2026-03-16T01:49:59Z</dcterms:created>
  <dcterms:modified xsi:type="dcterms:W3CDTF">2026-04-06T02:48:22Z</dcterms:modified>
</cp:coreProperties>
</file>