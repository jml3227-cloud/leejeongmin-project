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410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18872"/>
            <a:ext cx="11823192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228600" y="118872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118872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Page Title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43000" y="11887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97864" y="11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메인 홈 페이지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20440" y="118872"/>
            <a:ext cx="804672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566160" y="11887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Screen ID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25112" y="118872"/>
            <a:ext cx="203911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379976" y="118872"/>
            <a:ext cx="194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S-01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64224" y="118872"/>
            <a:ext cx="65836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9944" y="11887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Author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022592" y="118872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077456" y="118872"/>
            <a:ext cx="209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이정민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208008" y="118872"/>
            <a:ext cx="47548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253728" y="118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Date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683496" y="118872"/>
            <a:ext cx="23682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738360" y="118872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2026.03.20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28600" y="521208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74320" y="521208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Screen Path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43000" y="521208"/>
            <a:ext cx="109087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197864" y="521208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OTT Analytics → 홈</a:t>
            </a:r>
            <a:endParaRPr lang="en-US" sz="100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87552"/>
            <a:ext cx="8732520" cy="5751576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228600" y="987552"/>
            <a:ext cx="8732520" cy="57515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" name="Shape 22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Description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9034272" y="1225296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9034272" y="1225296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1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290304" y="1225296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9336024" y="1261872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상단 네비바. 로고 클릭 시 홈으로 이동. 각 메뉴 클릭 시 해당 기능 페이지(S-02, S-03)로 이동.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034272" y="1783080"/>
            <a:ext cx="2560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9034272" y="1783080"/>
            <a:ext cx="256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2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9290304" y="1783080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9336024" y="1819656"/>
            <a:ext cx="2642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현재 서비스 현황 통계 카드 3개. 이탈 위험군 비율 / 이탈 없음 비율 / 평균 리텐션 점수. 실시간 ML 예측 결과 기반으로 자동 업데이트.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9034272" y="2496312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9034272" y="2496312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3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9290304" y="2496312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9336024" y="2532888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주요 기능 섹션 레이블. 아래 2개 카드가 각각 S-02, S-03 페이지 진입점.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9034272" y="2898648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9034272" y="2898648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4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9290304" y="2898648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9"/>
          <p:cNvSpPr/>
          <p:nvPr/>
        </p:nvSpPr>
        <p:spPr>
          <a:xfrm>
            <a:off x="9336024" y="2935224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"유저 충성도 예측" 기능 카드의 자세히 보기 버튼. 클릭 시 S-02(유저 충성도 예측) 페이지로 이동.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34272" y="3456432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9034272" y="3456432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5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290304" y="3456432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9336024" y="3493008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"광고형 요금제 분석" 기능 카드의 자세히 보기 버튼. 클릭 시 S-03(광고형 요금제 분석) 페이지로 이동.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9034272" y="4014216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9034272" y="401421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Check Point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9034272" y="4251960"/>
            <a:ext cx="3017520" cy="1527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7"/>
          <p:cNvSpPr/>
          <p:nvPr/>
        </p:nvSpPr>
        <p:spPr>
          <a:xfrm>
            <a:off x="9125712" y="4306824"/>
            <a:ext cx="283464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현황 통계 카드(②)는 전체 유저 ML 예측 결과를 집계해 자동 </a:t>
            </a:r>
            <a:r>
              <a:rPr lang="en-US" sz="1000" dirty="0" err="1">
                <a:solidFill>
                  <a:srgbClr val="333333"/>
                </a:solidFill>
              </a:rPr>
              <a:t>표시</a:t>
            </a:r>
            <a:r>
              <a:rPr lang="en-US" sz="1000" dirty="0">
                <a:solidFill>
                  <a:srgbClr val="333333"/>
                </a:solidFill>
              </a:rPr>
              <a:t>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기능 카드 "자세히 보기" 버튼은 네비바 메뉴와 동일한 페이지로 연결됨.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히어로 영역의 "서비스 시작하기" 버튼은 S-02 페이지(유저 충성도 예측)로 바로 이동.</a:t>
            </a:r>
            <a:endParaRPr lang="en-US" sz="1000" dirty="0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AE508EC0-CD98-EF77-812D-F9D69D4CDF20}"/>
              </a:ext>
            </a:extLst>
          </p:cNvPr>
          <p:cNvSpPr/>
          <p:nvPr/>
        </p:nvSpPr>
        <p:spPr>
          <a:xfrm>
            <a:off x="5853404" y="105529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157C7EA-183A-17A0-DEFF-178957097DCD}"/>
              </a:ext>
            </a:extLst>
          </p:cNvPr>
          <p:cNvSpPr/>
          <p:nvPr/>
        </p:nvSpPr>
        <p:spPr>
          <a:xfrm>
            <a:off x="4616631" y="1550188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1FEC3CFC-E1B0-7D1D-CE2B-AE2163C4C005}"/>
              </a:ext>
            </a:extLst>
          </p:cNvPr>
          <p:cNvSpPr/>
          <p:nvPr/>
        </p:nvSpPr>
        <p:spPr>
          <a:xfrm>
            <a:off x="396364" y="2961007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7F6C8519-D6A5-4492-BFB3-AD020101A68A}"/>
              </a:ext>
            </a:extLst>
          </p:cNvPr>
          <p:cNvSpPr/>
          <p:nvPr/>
        </p:nvSpPr>
        <p:spPr>
          <a:xfrm>
            <a:off x="676469" y="3788415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E04DFA3C-60BF-EB03-0F2F-9618F6D95761}"/>
              </a:ext>
            </a:extLst>
          </p:cNvPr>
          <p:cNvSpPr/>
          <p:nvPr/>
        </p:nvSpPr>
        <p:spPr>
          <a:xfrm>
            <a:off x="4203814" y="499172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18872"/>
            <a:ext cx="11823192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228600" y="118872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118872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Page Title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43000" y="11887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97864" y="11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유저 충성도 예측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20440" y="118872"/>
            <a:ext cx="804672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566160" y="11887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Screen ID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25112" y="118872"/>
            <a:ext cx="203911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379976" y="118872"/>
            <a:ext cx="194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S-02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64224" y="118872"/>
            <a:ext cx="65836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9944" y="11887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Author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022592" y="118872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077456" y="118872"/>
            <a:ext cx="209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이정민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208008" y="118872"/>
            <a:ext cx="47548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253728" y="118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Date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683496" y="118872"/>
            <a:ext cx="23682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738360" y="118872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2026.03.20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28600" y="521208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74320" y="521208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Screen Path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43000" y="521208"/>
            <a:ext cx="109087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197864" y="521208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OTT Analytics → 유저 충성도 예측</a:t>
            </a:r>
            <a:endParaRPr lang="en-US" sz="100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87552"/>
            <a:ext cx="8732520" cy="5751576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228600" y="987552"/>
            <a:ext cx="8732520" cy="57515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Description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9034272" y="1225296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9034272" y="1225296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1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290304" y="1225296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9336024" y="1261872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상단 파이프라인 표시: 입력값 → Regressor → Classifier 흐름을 한눈에 파악.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034272" y="1783080"/>
            <a:ext cx="2560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9034272" y="1783080"/>
            <a:ext cx="256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2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9290304" y="1783080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9336024" y="1819656"/>
            <a:ext cx="2642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Input X 3개를 가로로 배치. 성별(USERS), 연령대(USERS), 오리지널 선호도(CONTENT_STYLE). 초기화·예측 실행 버튼 우측 정렬.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9034272" y="2496312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9034272" y="2496312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3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9290304" y="2496312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9336024" y="2532888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"초기화" 버튼 클릭 시 3개 입력값을 모두 기본값으로 초기화. 이전 예측 결과도 함께 초기화됨.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9034272" y="3054096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9034272" y="3054096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9290304" y="3054096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9"/>
          <p:cNvSpPr/>
          <p:nvPr/>
        </p:nvSpPr>
        <p:spPr>
          <a:xfrm>
            <a:off x="9336024" y="3090672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"예측 실행" 클릭 시 Step 1 Regressor → Step 2 Classifier 순차 실행. 결과는 하단에 즉시 출력.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34272" y="3611880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9034272" y="3611880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5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290304" y="3611880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9336024" y="3648456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Step 1 Regressor: 주중+주말 총 이용 시간 예측(분). 구간별(저조/보통/높음) 프로그레스 바 시각화.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9034272" y="4169664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9034272" y="416966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6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9290304" y="4169664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7"/>
          <p:cNvSpPr/>
          <p:nvPr/>
        </p:nvSpPr>
        <p:spPr>
          <a:xfrm>
            <a:off x="9336024" y="4206240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Step 2 Classifier: 예측 이용 시간 기반 3개 그룹 분류. 확률 및 인사이트 메시지 표시.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034272" y="4727448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/>
          <p:nvPr/>
        </p:nvSpPr>
        <p:spPr>
          <a:xfrm>
            <a:off x="9034272" y="47274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Check Point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034272" y="4965192"/>
            <a:ext cx="3017520" cy="1527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1"/>
          <p:cNvSpPr/>
          <p:nvPr/>
        </p:nvSpPr>
        <p:spPr>
          <a:xfrm>
            <a:off x="9125712" y="5020056"/>
            <a:ext cx="283464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3개 입력 모두 필수. 미입력 시 버튼 비활성화.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Regressor 예측값이 Classifier 입력으로 자동 연결. 사용자에게는 최종 그룹 분류 결과 전면 노출.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결과 영역은 예측 실행 전 빈 상태로 표시.</a:t>
            </a:r>
            <a:endParaRPr lang="en-US" sz="1000" dirty="0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40B0EFDB-6F43-E7A3-C9A1-94B83FCDDA53}"/>
              </a:ext>
            </a:extLst>
          </p:cNvPr>
          <p:cNvSpPr/>
          <p:nvPr/>
        </p:nvSpPr>
        <p:spPr>
          <a:xfrm>
            <a:off x="475549" y="1783080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710BB66C-943F-9348-C0B5-B6826455D4ED}"/>
              </a:ext>
            </a:extLst>
          </p:cNvPr>
          <p:cNvSpPr/>
          <p:nvPr/>
        </p:nvSpPr>
        <p:spPr>
          <a:xfrm>
            <a:off x="475549" y="2165167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F7C1AC57-CC87-1238-ADF8-B5C80B4E56BD}"/>
              </a:ext>
            </a:extLst>
          </p:cNvPr>
          <p:cNvSpPr/>
          <p:nvPr/>
        </p:nvSpPr>
        <p:spPr>
          <a:xfrm>
            <a:off x="7077456" y="2253156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B13C2562-48E0-5001-A55A-CEDBFFF5E973}"/>
              </a:ext>
            </a:extLst>
          </p:cNvPr>
          <p:cNvSpPr/>
          <p:nvPr/>
        </p:nvSpPr>
        <p:spPr>
          <a:xfrm>
            <a:off x="7705064" y="2253155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5BB65B65-222B-0B34-E39D-19CA9A2AAD0E}"/>
              </a:ext>
            </a:extLst>
          </p:cNvPr>
          <p:cNvSpPr/>
          <p:nvPr/>
        </p:nvSpPr>
        <p:spPr>
          <a:xfrm>
            <a:off x="475549" y="268059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69B4065A-8827-5A93-100F-7D634BE0385F}"/>
              </a:ext>
            </a:extLst>
          </p:cNvPr>
          <p:cNvSpPr/>
          <p:nvPr/>
        </p:nvSpPr>
        <p:spPr>
          <a:xfrm>
            <a:off x="4495333" y="2721739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6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18872"/>
            <a:ext cx="11823192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228600" y="118872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118872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Page Title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43000" y="11887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97864" y="11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광고형 요금제 분석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20440" y="118872"/>
            <a:ext cx="804672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566160" y="11887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Screen ID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25112" y="118872"/>
            <a:ext cx="203911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379976" y="118872"/>
            <a:ext cx="194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S-03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64224" y="118872"/>
            <a:ext cx="65836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9944" y="11887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Author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022592" y="118872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077456" y="118872"/>
            <a:ext cx="209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이정민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208008" y="118872"/>
            <a:ext cx="47548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253728" y="118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Date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683496" y="118872"/>
            <a:ext cx="23682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738360" y="118872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2026.03.20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28600" y="521208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74320" y="521208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74151"/>
                </a:solidFill>
              </a:rPr>
              <a:t>Screen Path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43000" y="521208"/>
            <a:ext cx="109087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197864" y="521208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OTT Analytics → 광고형 요금제 분석 (마케팅 인사이트)</a:t>
            </a:r>
            <a:endParaRPr lang="en-US" sz="100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87552"/>
            <a:ext cx="8732520" cy="5751576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228600" y="987552"/>
            <a:ext cx="8732520" cy="57515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Description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9034272" y="1225296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9034272" y="1225296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1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290304" y="1225296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9336024" y="1261872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수용도 예측(Regressor)과 마케팅 타겟 시뮬레이션을 한 페이지에서 제공.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034272" y="1627632"/>
            <a:ext cx="2560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9034272" y="1627632"/>
            <a:ext cx="256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2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9290304" y="1627632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9336024" y="1664208"/>
            <a:ext cx="2642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Input X 3개를 가로로 배치. 현재 요금제·의향 점수(SUBSCRIPTION_SURVEY) + 연령대(USERS). 버튼 우측 정렬.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9034272" y="2340864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9034272" y="234086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3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9290304" y="2340864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9336024" y="2377440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"초기화" 버튼 클릭 시 3개 입력값을 모두 기본값으로 초기화. 이전 예측 결과도 </a:t>
            </a:r>
            <a:r>
              <a:rPr lang="en-US" sz="1000" dirty="0" err="1">
                <a:solidFill>
                  <a:srgbClr val="333333"/>
                </a:solidFill>
              </a:rPr>
              <a:t>함께</a:t>
            </a:r>
            <a:r>
              <a:rPr lang="en-US" sz="1000" dirty="0">
                <a:solidFill>
                  <a:srgbClr val="333333"/>
                </a:solidFill>
              </a:rPr>
              <a:t> </a:t>
            </a:r>
            <a:r>
              <a:rPr lang="en-US" sz="1000" dirty="0" err="1">
                <a:solidFill>
                  <a:srgbClr val="333333"/>
                </a:solidFill>
              </a:rPr>
              <a:t>초기화됨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9034272" y="2898648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9034272" y="2898648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4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9290304" y="2898648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9"/>
          <p:cNvSpPr/>
          <p:nvPr/>
        </p:nvSpPr>
        <p:spPr>
          <a:xfrm>
            <a:off x="9336024" y="2935224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"수용도 예측" 클릭 시 Regressor 호출 → 수용도 점수(1~5) 즉시 출력.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34272" y="3300984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9034272" y="330098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5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290304" y="3300984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9336024" y="3337560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예측 수용도 점수와 구간 해석(낮음/중립/전환 가능) 표시. 현재 유저 점수 위치 강조.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9034272" y="3858768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9034272" y="3858768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6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9290304" y="3858768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7"/>
          <p:cNvSpPr/>
          <p:nvPr/>
        </p:nvSpPr>
        <p:spPr>
          <a:xfrm>
            <a:off x="9336024" y="3895344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전체 유저 수용도 점수 정규분포 그래프. 파란 기준선 우측(초록)=타겟, 좌측(빨강)=비타겟.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034272" y="4416552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/>
          <p:nvPr/>
        </p:nvSpPr>
        <p:spPr>
          <a:xfrm>
            <a:off x="9034272" y="4416552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7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290304" y="4416552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1"/>
          <p:cNvSpPr/>
          <p:nvPr/>
        </p:nvSpPr>
        <p:spPr>
          <a:xfrm>
            <a:off x="9336024" y="4453128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슬라이더 조절 시 분포 기준선 이동 + 타겟 인원수·ΣPi 실시간 연동. 핵심 기능.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9034272" y="4818888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3"/>
          <p:cNvSpPr/>
          <p:nvPr/>
        </p:nvSpPr>
        <p:spPr>
          <a:xfrm>
            <a:off x="9034272" y="48188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Check Point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9034272" y="5056632"/>
            <a:ext cx="301752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/>
          <p:nvPr/>
        </p:nvSpPr>
        <p:spPr>
          <a:xfrm>
            <a:off x="9125712" y="5111496"/>
            <a:ext cx="28346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슬라이더 조작 시 분포 기준선·타겟 인원수·ΣPi </a:t>
            </a:r>
            <a:r>
              <a:rPr lang="en-US" sz="1000" dirty="0" err="1">
                <a:solidFill>
                  <a:srgbClr val="333333"/>
                </a:solidFill>
              </a:rPr>
              <a:t>실시간</a:t>
            </a:r>
            <a:r>
              <a:rPr lang="en-US" sz="1000" dirty="0">
                <a:solidFill>
                  <a:srgbClr val="333333"/>
                </a:solidFill>
              </a:rPr>
              <a:t> </a:t>
            </a:r>
            <a:r>
              <a:rPr lang="en-US" sz="1000" dirty="0" err="1">
                <a:solidFill>
                  <a:srgbClr val="333333"/>
                </a:solidFill>
              </a:rPr>
              <a:t>업데이트</a:t>
            </a:r>
            <a:r>
              <a:rPr lang="en-US" sz="1000" dirty="0">
                <a:solidFill>
                  <a:srgbClr val="333333"/>
                </a:solidFill>
              </a:rPr>
              <a:t>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분포 그래프는 예측 실행 전에도 전체 유저 기반으로 표시.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기준선은 슬라이더 값과 x축이 정확히 일치.</a:t>
            </a:r>
            <a:endParaRPr lang="en-US" sz="1000" dirty="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AC4E9BBF-0E78-1580-95CF-2688BEDC9FBB}"/>
              </a:ext>
            </a:extLst>
          </p:cNvPr>
          <p:cNvSpPr/>
          <p:nvPr/>
        </p:nvSpPr>
        <p:spPr>
          <a:xfrm>
            <a:off x="371203" y="1456695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A39F9D8A-18F7-4DB9-DD4B-8D84DE3E63C3}"/>
              </a:ext>
            </a:extLst>
          </p:cNvPr>
          <p:cNvSpPr/>
          <p:nvPr/>
        </p:nvSpPr>
        <p:spPr>
          <a:xfrm>
            <a:off x="371203" y="188049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B2B5C6BC-64E9-CAF2-EC85-6FA1A082AE85}"/>
              </a:ext>
            </a:extLst>
          </p:cNvPr>
          <p:cNvSpPr/>
          <p:nvPr/>
        </p:nvSpPr>
        <p:spPr>
          <a:xfrm>
            <a:off x="6995160" y="197025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A84DB7AB-0615-5D9D-3845-A561001BC941}"/>
              </a:ext>
            </a:extLst>
          </p:cNvPr>
          <p:cNvSpPr/>
          <p:nvPr/>
        </p:nvSpPr>
        <p:spPr>
          <a:xfrm>
            <a:off x="7638972" y="197025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E29F465-D100-F96D-33DB-654D692EBAB1}"/>
              </a:ext>
            </a:extLst>
          </p:cNvPr>
          <p:cNvSpPr/>
          <p:nvPr/>
        </p:nvSpPr>
        <p:spPr>
          <a:xfrm>
            <a:off x="371203" y="256629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174D278-ECB2-7187-D3D2-3BCE59DE258F}"/>
              </a:ext>
            </a:extLst>
          </p:cNvPr>
          <p:cNvSpPr/>
          <p:nvPr/>
        </p:nvSpPr>
        <p:spPr>
          <a:xfrm>
            <a:off x="2780398" y="2559946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6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68476E9B-EA33-20B0-4DBF-1206A4A154B2}"/>
              </a:ext>
            </a:extLst>
          </p:cNvPr>
          <p:cNvSpPr/>
          <p:nvPr/>
        </p:nvSpPr>
        <p:spPr>
          <a:xfrm>
            <a:off x="2780398" y="375501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7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596</Words>
  <Application>Microsoft Office PowerPoint</Application>
  <PresentationFormat>와이드스크린</PresentationFormat>
  <Paragraphs>108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 J</cp:lastModifiedBy>
  <cp:revision>4</cp:revision>
  <dcterms:created xsi:type="dcterms:W3CDTF">2026-03-19T07:53:49Z</dcterms:created>
  <dcterms:modified xsi:type="dcterms:W3CDTF">2026-03-19T23:52:39Z</dcterms:modified>
</cp:coreProperties>
</file>