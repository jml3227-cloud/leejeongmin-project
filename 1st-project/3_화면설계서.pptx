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12192000"/>
  <p:embeddedFontLst>
    <p:embeddedFont>
      <p:font typeface="Noto Sans KR" panose="020B0200000000000000" pitchFamily="50" charset="-127"/>
      <p:regular r:id="rId8"/>
      <p:bold r:id="rId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 autoAdjust="0"/>
    <p:restoredTop sz="94610"/>
  </p:normalViewPr>
  <p:slideViewPr>
    <p:cSldViewPr snapToGrid="0" snapToObjects="1">
      <p:cViewPr>
        <p:scale>
          <a:sx n="63" d="100"/>
          <a:sy n="63" d="100"/>
        </p:scale>
        <p:origin x="1426" y="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410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CFDA1-8CE9-4C20-E5FE-D0295316A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6C9131-5ADF-CBA9-9D63-07DB8CCD6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41F8-5B04-376C-E807-24AEED501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B3764-357D-B7AD-32E0-8C540536D1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28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EEDB0-D470-CDF7-AA82-29816C6A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92D7D9-5341-08C5-3BF9-23CD72F1F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67966D-D50C-4400-CC3C-FE4E36748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6522F-1E3A-19E9-C52C-4259605748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539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Page Title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메인 홈 페이지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ID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S-01a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Author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이정민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2026.03.20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Path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OTT Analytics → 홈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27397" y="987552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Description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9034272" y="1225296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034272" y="1225296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290304" y="1225296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9336024" y="1261872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상단 네비바. 로고 클릭 시 홈으로 이동. 각 메뉴 클릭 시 해당 </a:t>
            </a:r>
            <a:r>
              <a:rPr 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페이지로</a:t>
            </a:r>
            <a:r>
              <a:rPr 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이동.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9034272" y="1783080"/>
            <a:ext cx="2560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9034272" y="1783080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9290304" y="1783080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9336024" y="1819656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캐러셀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히어로 영역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이미지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장 슬라이드로 구성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슬라이드에 제목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설명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버튼 포함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9034272" y="2496312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9034272" y="2496312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9290304" y="2496312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9336024" y="2532888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캐러셀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제목 텍스트 영역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9034272" y="2898648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9034272" y="2898648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9290304" y="2898648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9336024" y="2935224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캐러셀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설명 텍스트 영역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제일 처음 이미지는 홈페이지 소개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</a:p>
          <a:p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2~3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이미지는 각 기능 소개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0623E34A-906C-55FD-9FE3-7E7B2408E18F}"/>
              </a:ext>
            </a:extLst>
          </p:cNvPr>
          <p:cNvGrpSpPr/>
          <p:nvPr/>
        </p:nvGrpSpPr>
        <p:grpSpPr>
          <a:xfrm>
            <a:off x="9034272" y="3456432"/>
            <a:ext cx="3017520" cy="722376"/>
            <a:chOff x="9034272" y="3456432"/>
            <a:chExt cx="3017520" cy="557784"/>
          </a:xfrm>
        </p:grpSpPr>
        <p:sp>
          <p:nvSpPr>
            <p:cNvPr id="43" name="Shape 40"/>
            <p:cNvSpPr/>
            <p:nvPr/>
          </p:nvSpPr>
          <p:spPr>
            <a:xfrm>
              <a:off x="9034272" y="3456432"/>
              <a:ext cx="256032" cy="5577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BBBBB"/>
              </a:solidFill>
              <a:prstDash val="solid"/>
            </a:ln>
          </p:spPr>
          <p:txBody>
            <a:bodyPr/>
            <a:lstStyle/>
            <a:p>
              <a:endParaRPr lang="ko-KR" altLang="en-US" sz="110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44" name="Text 41"/>
            <p:cNvSpPr/>
            <p:nvPr/>
          </p:nvSpPr>
          <p:spPr>
            <a:xfrm>
              <a:off x="9034272" y="3456432"/>
              <a:ext cx="256032" cy="5577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0F172A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5</a:t>
              </a:r>
              <a:endParaRPr lang="en-US" sz="1100" dirty="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45" name="Shape 42"/>
            <p:cNvSpPr/>
            <p:nvPr/>
          </p:nvSpPr>
          <p:spPr>
            <a:xfrm>
              <a:off x="9290304" y="3456432"/>
              <a:ext cx="2761488" cy="557784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BBBBB"/>
              </a:solidFill>
              <a:prstDash val="solid"/>
            </a:ln>
          </p:spPr>
          <p:txBody>
            <a:bodyPr/>
            <a:lstStyle/>
            <a:p>
              <a:endParaRPr lang="ko-KR" altLang="en-US" sz="110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  <p:sp>
          <p:nvSpPr>
            <p:cNvPr id="46" name="Text 43"/>
            <p:cNvSpPr/>
            <p:nvPr/>
          </p:nvSpPr>
          <p:spPr>
            <a:xfrm>
              <a:off x="9336024" y="3493008"/>
              <a:ext cx="2642616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ko-KR" altLang="en-US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버튼</a:t>
              </a:r>
              <a:r>
                <a:rPr lang="en-US" altLang="ko-KR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.</a:t>
              </a:r>
            </a:p>
            <a:p>
              <a:pPr marL="0" indent="0">
                <a:buNone/>
              </a:pPr>
              <a:r>
                <a:rPr lang="ko-KR" altLang="en-US" sz="1100" dirty="0" err="1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클릭시</a:t>
              </a:r>
              <a:r>
                <a:rPr lang="ko-KR" altLang="en-US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 해당 기능 페이지로 이동</a:t>
              </a:r>
              <a:endPara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1</a:t>
              </a:r>
              <a:r>
                <a:rPr lang="ko-KR" altLang="en-US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번 이미지에는 두 버튼 모두</a:t>
              </a:r>
              <a:r>
                <a:rPr lang="en-US" altLang="ko-KR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, </a:t>
              </a:r>
            </a:p>
            <a:p>
              <a:pPr marL="0" indent="0">
                <a:buNone/>
              </a:pPr>
              <a:r>
                <a:rPr lang="en-US" altLang="ko-KR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2~3 </a:t>
              </a:r>
              <a:r>
                <a:rPr lang="ko-KR" altLang="en-US" sz="1100" dirty="0">
                  <a:solidFill>
                    <a:srgbClr val="333333"/>
                  </a:solidFill>
                  <a:latin typeface="Noto Sans KR" panose="020B0200000000000000" pitchFamily="50" charset="-127"/>
                  <a:ea typeface="Noto Sans KR" panose="020B0200000000000000" pitchFamily="50" charset="-127"/>
                </a:rPr>
                <a:t>이미지는 각 기능 버튼 한 개씩 </a:t>
              </a:r>
              <a:endParaRPr lang="en-US" sz="1100" dirty="0">
                <a:latin typeface="Noto Sans KR" panose="020B0200000000000000" pitchFamily="50" charset="-127"/>
                <a:ea typeface="Noto Sans KR" panose="020B0200000000000000" pitchFamily="50" charset="-127"/>
              </a:endParaRPr>
            </a:p>
          </p:txBody>
        </p:sp>
      </p:grpSp>
      <p:sp>
        <p:nvSpPr>
          <p:cNvPr id="47" name="Shape 44"/>
          <p:cNvSpPr/>
          <p:nvPr/>
        </p:nvSpPr>
        <p:spPr>
          <a:xfrm>
            <a:off x="9034272" y="4197096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9034272" y="419709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Check Point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9034272" y="4434840"/>
            <a:ext cx="3017520" cy="1527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9125712" y="4514088"/>
            <a:ext cx="283464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캐러셀은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자동 슬라이드 </a:t>
            </a:r>
            <a:endParaRPr lang="en-US" altLang="ko-KR" sz="1100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+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좌우 화살표 수동 이동 지원</a:t>
            </a:r>
            <a:endParaRPr lang="en-US" altLang="ko-KR" sz="1100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en-US" sz="1100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네비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바 메뉴는 각 기능 페이지로 연결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E5D0339B-F0BD-3212-396E-3EA5A8F47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72" y="993648"/>
            <a:ext cx="8680760" cy="5745480"/>
          </a:xfrm>
          <a:prstGeom prst="rect">
            <a:avLst/>
          </a:prstGeom>
        </p:spPr>
      </p:pic>
      <p:sp>
        <p:nvSpPr>
          <p:cNvPr id="51" name="타원 50">
            <a:extLst>
              <a:ext uri="{FF2B5EF4-FFF2-40B4-BE49-F238E27FC236}">
                <a16:creationId xmlns:a16="http://schemas.microsoft.com/office/drawing/2014/main" id="{AE508EC0-CD98-EF77-812D-F9D69D4CDF20}"/>
              </a:ext>
            </a:extLst>
          </p:cNvPr>
          <p:cNvSpPr/>
          <p:nvPr/>
        </p:nvSpPr>
        <p:spPr>
          <a:xfrm>
            <a:off x="872972" y="1076627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157C7EA-183A-17A0-DEFF-178957097DCD}"/>
              </a:ext>
            </a:extLst>
          </p:cNvPr>
          <p:cNvSpPr/>
          <p:nvPr/>
        </p:nvSpPr>
        <p:spPr>
          <a:xfrm>
            <a:off x="797767" y="2148840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1FEC3CFC-E1B0-7D1D-CE2B-AE2163C4C005}"/>
              </a:ext>
            </a:extLst>
          </p:cNvPr>
          <p:cNvSpPr/>
          <p:nvPr/>
        </p:nvSpPr>
        <p:spPr>
          <a:xfrm>
            <a:off x="3362566" y="480797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7F6C8519-D6A5-4492-BFB3-AD020101A68A}"/>
              </a:ext>
            </a:extLst>
          </p:cNvPr>
          <p:cNvSpPr/>
          <p:nvPr/>
        </p:nvSpPr>
        <p:spPr>
          <a:xfrm>
            <a:off x="3119970" y="5275839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E04DFA3C-60BF-EB03-0F2F-9618F6D95761}"/>
              </a:ext>
            </a:extLst>
          </p:cNvPr>
          <p:cNvSpPr/>
          <p:nvPr/>
        </p:nvSpPr>
        <p:spPr>
          <a:xfrm>
            <a:off x="3801478" y="602552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7EDB50-938F-2A87-0CCC-8A215570C00E}"/>
              </a:ext>
            </a:extLst>
          </p:cNvPr>
          <p:cNvSpPr txBox="1"/>
          <p:nvPr/>
        </p:nvSpPr>
        <p:spPr>
          <a:xfrm>
            <a:off x="5998464" y="1249680"/>
            <a:ext cx="4114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홈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3E455BA-E04E-07F3-2AF2-D7F8396E43AC}"/>
              </a:ext>
            </a:extLst>
          </p:cNvPr>
          <p:cNvSpPr txBox="1"/>
          <p:nvPr/>
        </p:nvSpPr>
        <p:spPr>
          <a:xfrm>
            <a:off x="6655308" y="1249680"/>
            <a:ext cx="6842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05595FA-2E44-7391-8A31-B701A22F82EF}"/>
              </a:ext>
            </a:extLst>
          </p:cNvPr>
          <p:cNvSpPr txBox="1"/>
          <p:nvPr/>
        </p:nvSpPr>
        <p:spPr>
          <a:xfrm>
            <a:off x="7413939" y="1249680"/>
            <a:ext cx="63354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CC22726-7F46-6018-4936-16C05B204D34}"/>
              </a:ext>
            </a:extLst>
          </p:cNvPr>
          <p:cNvSpPr/>
          <p:nvPr/>
        </p:nvSpPr>
        <p:spPr>
          <a:xfrm>
            <a:off x="1450848" y="1180383"/>
            <a:ext cx="684276" cy="3698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36B7A5-5D58-5DED-5DB4-3BA7E2D75322}"/>
              </a:ext>
            </a:extLst>
          </p:cNvPr>
          <p:cNvSpPr txBox="1"/>
          <p:nvPr/>
        </p:nvSpPr>
        <p:spPr>
          <a:xfrm>
            <a:off x="1107567" y="1251388"/>
            <a:ext cx="9113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로고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Page Title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메인 홈페이지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ID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S-01b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Author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이정민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2026.03.20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Path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OTT Analytics → 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홈 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하단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25552" y="1009012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Description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9034272" y="1225296"/>
            <a:ext cx="3017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034272" y="1225296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290304" y="1225296"/>
            <a:ext cx="276148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9336024" y="1261872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현재 서비스 현황 통계 카드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</a:t>
            </a: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위험군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비율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안정 구독자 비율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마케팅 타겟 그룹 인원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-&gt; PREDICTION_RESULT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테이블 기반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9034272" y="1920240"/>
            <a:ext cx="25603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9034272" y="1783080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9290304" y="1920240"/>
            <a:ext cx="2761488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9336024" y="1956816"/>
            <a:ext cx="26426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기능 카드 영역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대한 간단한 설명 추가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 페이지 예시 이미지 추가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9034272" y="2496312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9034272" y="2496312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9290304" y="2496312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9336024" y="2532888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페이지에 접속할 수 있는 버튼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설명 밑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이미지 옆에 버튼 추가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9034272" y="3054096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9034272" y="3054096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9290304" y="3054096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9336024" y="3090672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주요 기능 카드 영역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에 대한 간단한 설명 추가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 페이지 예시 이미지 추가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9034272" y="3611880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9034272" y="3611880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9290304" y="3611880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9336024" y="3648456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페이지에 접속할 수 있는 버튼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설명 밑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이미지 옆에 버튼 추가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sp>
        <p:nvSpPr>
          <p:cNvPr id="47" name="Shape 44"/>
          <p:cNvSpPr/>
          <p:nvPr/>
        </p:nvSpPr>
        <p:spPr>
          <a:xfrm>
            <a:off x="9034272" y="416966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9034272" y="416966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9290304" y="416966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9336024" y="420624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푸터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서비스명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출처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사용한 모델과 기술 정보 표시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9034272" y="4727448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9034272" y="472744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Check Point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9034272" y="4965192"/>
            <a:ext cx="3017520" cy="1527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9125712" y="5020056"/>
            <a:ext cx="2834640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통계 카드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②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는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PREDICTION_RESULT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테이블 </a:t>
            </a:r>
            <a:endParaRPr lang="en-US" altLang="ko-KR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전체 집계 기반으로 자동 표시</a:t>
            </a:r>
            <a:endParaRPr lang="en-US" altLang="ko-KR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기능 카드에 존재하는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“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자세히 보기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“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버튼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③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⑤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은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네비바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메뉴와 동일한 페이지로 연결됨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altLang="ko-KR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2C2A4826-DC27-9972-C06F-395E9779D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" y="1034058"/>
            <a:ext cx="8711184" cy="5726530"/>
          </a:xfrm>
          <a:prstGeom prst="rect">
            <a:avLst/>
          </a:prstGeom>
        </p:spPr>
      </p:pic>
      <p:sp>
        <p:nvSpPr>
          <p:cNvPr id="55" name="타원 54">
            <a:extLst>
              <a:ext uri="{FF2B5EF4-FFF2-40B4-BE49-F238E27FC236}">
                <a16:creationId xmlns:a16="http://schemas.microsoft.com/office/drawing/2014/main" id="{40B0EFDB-6F43-E7A3-C9A1-94B83FCDDA53}"/>
              </a:ext>
            </a:extLst>
          </p:cNvPr>
          <p:cNvSpPr/>
          <p:nvPr/>
        </p:nvSpPr>
        <p:spPr>
          <a:xfrm>
            <a:off x="955268" y="1842142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710BB66C-943F-9348-C0B5-B6826455D4ED}"/>
              </a:ext>
            </a:extLst>
          </p:cNvPr>
          <p:cNvSpPr/>
          <p:nvPr/>
        </p:nvSpPr>
        <p:spPr>
          <a:xfrm>
            <a:off x="1268590" y="4102483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B13C2562-48E0-5001-A55A-CEDBFFF5E973}"/>
              </a:ext>
            </a:extLst>
          </p:cNvPr>
          <p:cNvSpPr/>
          <p:nvPr/>
        </p:nvSpPr>
        <p:spPr>
          <a:xfrm>
            <a:off x="5699480" y="3914120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69B4065A-8827-5A93-100F-7D634BE0385F}"/>
              </a:ext>
            </a:extLst>
          </p:cNvPr>
          <p:cNvSpPr/>
          <p:nvPr/>
        </p:nvSpPr>
        <p:spPr>
          <a:xfrm>
            <a:off x="788250" y="5184523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FD0C83-56E2-B2FE-EABB-C8244DC12D61}"/>
              </a:ext>
            </a:extLst>
          </p:cNvPr>
          <p:cNvSpPr txBox="1"/>
          <p:nvPr/>
        </p:nvSpPr>
        <p:spPr>
          <a:xfrm>
            <a:off x="1389888" y="2219313"/>
            <a:ext cx="160934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이탈 </a:t>
            </a: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위험군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비율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0A99730-A576-CF8B-AF04-DF5E880842B1}"/>
              </a:ext>
            </a:extLst>
          </p:cNvPr>
          <p:cNvSpPr txBox="1"/>
          <p:nvPr/>
        </p:nvSpPr>
        <p:spPr>
          <a:xfrm>
            <a:off x="3660648" y="2219313"/>
            <a:ext cx="160934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안정 구독자 비율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593557D-EC9B-4A1C-72BD-B967B50A17C9}"/>
              </a:ext>
            </a:extLst>
          </p:cNvPr>
          <p:cNvSpPr txBox="1"/>
          <p:nvPr/>
        </p:nvSpPr>
        <p:spPr>
          <a:xfrm>
            <a:off x="6050000" y="2219313"/>
            <a:ext cx="160934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마켓팅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타겟 그룹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0212AE99-80A5-16F3-0CC2-7836E1D882CC}"/>
              </a:ext>
            </a:extLst>
          </p:cNvPr>
          <p:cNvSpPr/>
          <p:nvPr/>
        </p:nvSpPr>
        <p:spPr>
          <a:xfrm>
            <a:off x="1706880" y="4102483"/>
            <a:ext cx="1653260" cy="624965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FA1E3577-64CA-C7D4-3555-1C87CF73A015}"/>
              </a:ext>
            </a:extLst>
          </p:cNvPr>
          <p:cNvSpPr/>
          <p:nvPr/>
        </p:nvSpPr>
        <p:spPr>
          <a:xfrm>
            <a:off x="6006084" y="4102483"/>
            <a:ext cx="1653260" cy="624965"/>
          </a:xfrm>
          <a:prstGeom prst="rect">
            <a:avLst/>
          </a:prstGeom>
          <a:solidFill>
            <a:schemeClr val="bg1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8D6262D-77C4-82BD-F271-77C4FFDA941C}"/>
              </a:ext>
            </a:extLst>
          </p:cNvPr>
          <p:cNvSpPr txBox="1"/>
          <p:nvPr/>
        </p:nvSpPr>
        <p:spPr>
          <a:xfrm>
            <a:off x="2447544" y="4414965"/>
            <a:ext cx="9766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자세히보기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ECA9EA-A49B-805A-8C2D-CC255AE660CF}"/>
              </a:ext>
            </a:extLst>
          </p:cNvPr>
          <p:cNvSpPr txBox="1"/>
          <p:nvPr/>
        </p:nvSpPr>
        <p:spPr>
          <a:xfrm>
            <a:off x="6702552" y="4414965"/>
            <a:ext cx="9766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자세히보기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F7C1AC57-CC87-1238-ADF8-B5C80B4E56BD}"/>
              </a:ext>
            </a:extLst>
          </p:cNvPr>
          <p:cNvSpPr/>
          <p:nvPr/>
        </p:nvSpPr>
        <p:spPr>
          <a:xfrm>
            <a:off x="2280526" y="4298686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5BB65B65-222B-0B34-E39D-19CA9A2AAD0E}"/>
              </a:ext>
            </a:extLst>
          </p:cNvPr>
          <p:cNvSpPr/>
          <p:nvPr/>
        </p:nvSpPr>
        <p:spPr>
          <a:xfrm>
            <a:off x="6414236" y="4309996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Shape 1"/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2"/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Page Title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그룹 분석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Text 6"/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ID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S-03a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Author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이정민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2026.03.20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Path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OTT Analytics → 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그룹 분석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입력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228600" y="987552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Description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9290304" y="1225296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9336024" y="1261872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페이지 제목 입력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간단한 기능 설명 하단에 추가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9290304" y="1627632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9336024" y="1664208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기본 정보 입력 카드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가족구성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구독료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일주일 총 이용시간 입력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가족구성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구독료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(drop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down), 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일주일 총 이용시간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(text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area).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9034272" y="234086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9034272" y="234086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9290304" y="234086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9336024" y="237744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시청 성향 입력 카드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추천 시청 성향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(1~5),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검색 시청 성향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(1~5),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몰아보기 성향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(1~5).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9034272" y="2898648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9034272" y="2898648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1" name="Shape 38"/>
          <p:cNvSpPr/>
          <p:nvPr/>
        </p:nvSpPr>
        <p:spPr>
          <a:xfrm>
            <a:off x="9290304" y="2898648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Text 39"/>
          <p:cNvSpPr/>
          <p:nvPr/>
        </p:nvSpPr>
        <p:spPr>
          <a:xfrm>
            <a:off x="9336024" y="2935224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구독 현황 입력 카드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 </a:t>
            </a: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오티티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종류와 이용 기기 종류 체크박스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Shape 40"/>
          <p:cNvSpPr/>
          <p:nvPr/>
        </p:nvSpPr>
        <p:spPr>
          <a:xfrm>
            <a:off x="9034272" y="330098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Text 41"/>
          <p:cNvSpPr/>
          <p:nvPr/>
        </p:nvSpPr>
        <p:spPr>
          <a:xfrm>
            <a:off x="9034272" y="330098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Shape 42"/>
          <p:cNvSpPr/>
          <p:nvPr/>
        </p:nvSpPr>
        <p:spPr>
          <a:xfrm>
            <a:off x="9290304" y="330098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Text 43"/>
          <p:cNvSpPr/>
          <p:nvPr/>
        </p:nvSpPr>
        <p:spPr>
          <a:xfrm>
            <a:off x="9336024" y="333756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이용 컨텐츠 입력 카드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오티티로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이용하고 있는 컨텐츠 체크 박스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7" name="Shape 44"/>
          <p:cNvSpPr/>
          <p:nvPr/>
        </p:nvSpPr>
        <p:spPr>
          <a:xfrm>
            <a:off x="9034272" y="3858768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8" name="Text 45"/>
          <p:cNvSpPr/>
          <p:nvPr/>
        </p:nvSpPr>
        <p:spPr>
          <a:xfrm>
            <a:off x="9034272" y="3858768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9" name="Shape 46"/>
          <p:cNvSpPr/>
          <p:nvPr/>
        </p:nvSpPr>
        <p:spPr>
          <a:xfrm>
            <a:off x="9290304" y="3858768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0" name="Text 47"/>
          <p:cNvSpPr/>
          <p:nvPr/>
        </p:nvSpPr>
        <p:spPr>
          <a:xfrm>
            <a:off x="9336024" y="3895344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초기화 버튼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입력한 내용 한번에 삭제 가능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1" name="Shape 48"/>
          <p:cNvSpPr/>
          <p:nvPr/>
        </p:nvSpPr>
        <p:spPr>
          <a:xfrm>
            <a:off x="9034272" y="4416552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2" name="Text 49"/>
          <p:cNvSpPr/>
          <p:nvPr/>
        </p:nvSpPr>
        <p:spPr>
          <a:xfrm>
            <a:off x="9034272" y="4416552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3" name="Shape 50"/>
          <p:cNvSpPr/>
          <p:nvPr/>
        </p:nvSpPr>
        <p:spPr>
          <a:xfrm>
            <a:off x="9290304" y="4416552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4" name="Text 51"/>
          <p:cNvSpPr/>
          <p:nvPr/>
        </p:nvSpPr>
        <p:spPr>
          <a:xfrm>
            <a:off x="9336024" y="4453128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 실행 버튼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입력값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모두 입력 후 </a:t>
            </a: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클릭시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예측 결과 출력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5" name="Shape 52"/>
          <p:cNvSpPr/>
          <p:nvPr/>
        </p:nvSpPr>
        <p:spPr>
          <a:xfrm>
            <a:off x="9034272" y="4818888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6" name="Text 53"/>
          <p:cNvSpPr/>
          <p:nvPr/>
        </p:nvSpPr>
        <p:spPr>
          <a:xfrm>
            <a:off x="9034272" y="481888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Check Point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7" name="Shape 54"/>
          <p:cNvSpPr/>
          <p:nvPr/>
        </p:nvSpPr>
        <p:spPr>
          <a:xfrm>
            <a:off x="9034272" y="5056632"/>
            <a:ext cx="3017520" cy="1478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8" name="Text 55"/>
          <p:cNvSpPr/>
          <p:nvPr/>
        </p:nvSpPr>
        <p:spPr>
          <a:xfrm>
            <a:off x="9125712" y="5111496"/>
            <a:ext cx="28346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검색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추천 시청 상호 제약 로직 적용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둘 중 하나가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4~5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점이면 나머지 하나는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1~3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점만     </a:t>
            </a:r>
            <a:endParaRPr lang="en-US" altLang="ko-KR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선택 가능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 실행 클릭 시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POST, /churn/predict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실행 → 동일 페이지에 결과 렌더링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초기화 버튼 클릭 시 모든 </a:t>
            </a: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입력값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기본값으로 리셋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2AF2E998-03B5-1B5E-1534-2B58248BC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1085648"/>
            <a:ext cx="8677656" cy="565348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AC4E9BBF-0E78-1580-95CF-2688BEDC9FBB}"/>
              </a:ext>
            </a:extLst>
          </p:cNvPr>
          <p:cNvSpPr/>
          <p:nvPr/>
        </p:nvSpPr>
        <p:spPr>
          <a:xfrm>
            <a:off x="3810622" y="1085648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A39F9D8A-18F7-4DB9-DD4B-8D84DE3E63C3}"/>
              </a:ext>
            </a:extLst>
          </p:cNvPr>
          <p:cNvSpPr/>
          <p:nvPr/>
        </p:nvSpPr>
        <p:spPr>
          <a:xfrm>
            <a:off x="3157013" y="1665296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B2B5C6BC-64E9-CAF2-EC85-6FA1A082AE85}"/>
              </a:ext>
            </a:extLst>
          </p:cNvPr>
          <p:cNvSpPr/>
          <p:nvPr/>
        </p:nvSpPr>
        <p:spPr>
          <a:xfrm>
            <a:off x="3157013" y="3840480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A84DB7AB-0615-5D9D-3845-A561001BC941}"/>
              </a:ext>
            </a:extLst>
          </p:cNvPr>
          <p:cNvSpPr/>
          <p:nvPr/>
        </p:nvSpPr>
        <p:spPr>
          <a:xfrm>
            <a:off x="3204692" y="5108478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DE29F465-D100-F96D-33DB-654D692EBAB1}"/>
              </a:ext>
            </a:extLst>
          </p:cNvPr>
          <p:cNvSpPr/>
          <p:nvPr/>
        </p:nvSpPr>
        <p:spPr>
          <a:xfrm>
            <a:off x="3168116" y="5662935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174D278-ECB2-7187-D3D2-3BCE59DE258F}"/>
              </a:ext>
            </a:extLst>
          </p:cNvPr>
          <p:cNvSpPr/>
          <p:nvPr/>
        </p:nvSpPr>
        <p:spPr>
          <a:xfrm>
            <a:off x="4704588" y="620243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68476E9B-EA33-20B0-4DBF-1206A4A154B2}"/>
              </a:ext>
            </a:extLst>
          </p:cNvPr>
          <p:cNvSpPr/>
          <p:nvPr/>
        </p:nvSpPr>
        <p:spPr>
          <a:xfrm>
            <a:off x="5344668" y="6165855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E61C17-8D7A-279A-8D26-9BC7764C9A18}"/>
              </a:ext>
            </a:extLst>
          </p:cNvPr>
          <p:cNvSpPr txBox="1"/>
          <p:nvPr/>
        </p:nvSpPr>
        <p:spPr>
          <a:xfrm>
            <a:off x="4064508" y="1159169"/>
            <a:ext cx="1280160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페이지 제목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2484AF-2163-1C7D-BCEF-7C32FF9CD9EA}"/>
              </a:ext>
            </a:extLst>
          </p:cNvPr>
          <p:cNvSpPr txBox="1"/>
          <p:nvPr/>
        </p:nvSpPr>
        <p:spPr>
          <a:xfrm>
            <a:off x="3483864" y="1810787"/>
            <a:ext cx="813816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기본정보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C1AF84-5F22-BB8A-CAC5-AC96A548EA17}"/>
              </a:ext>
            </a:extLst>
          </p:cNvPr>
          <p:cNvSpPr txBox="1"/>
          <p:nvPr/>
        </p:nvSpPr>
        <p:spPr>
          <a:xfrm>
            <a:off x="3483864" y="3921527"/>
            <a:ext cx="1149096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시청 성향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23EE5CF-772B-1440-51E2-EFC81B0D6B5C}"/>
              </a:ext>
            </a:extLst>
          </p:cNvPr>
          <p:cNvSpPr txBox="1"/>
          <p:nvPr/>
        </p:nvSpPr>
        <p:spPr>
          <a:xfrm>
            <a:off x="3483864" y="5191827"/>
            <a:ext cx="101498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구독 현황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B492D99-A9D2-D281-E6BF-924F9B82A4FC}"/>
              </a:ext>
            </a:extLst>
          </p:cNvPr>
          <p:cNvSpPr txBox="1"/>
          <p:nvPr/>
        </p:nvSpPr>
        <p:spPr>
          <a:xfrm>
            <a:off x="3483864" y="5519363"/>
            <a:ext cx="1588008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>
                <a:latin typeface="Noto Sans KR" panose="020B0200000000000000" pitchFamily="50" charset="-127"/>
                <a:ea typeface="Noto Sans KR" panose="020B0200000000000000" pitchFamily="50" charset="-127"/>
              </a:rPr>
              <a:t>시청 콘텐츠 정보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756CB5-DD9E-3A23-18FC-AD090B062119}"/>
              </a:ext>
            </a:extLst>
          </p:cNvPr>
          <p:cNvSpPr txBox="1"/>
          <p:nvPr/>
        </p:nvSpPr>
        <p:spPr>
          <a:xfrm>
            <a:off x="4861840" y="6385560"/>
            <a:ext cx="7464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초기화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58F037-5AB4-2100-4979-C753B9E5D27D}"/>
              </a:ext>
            </a:extLst>
          </p:cNvPr>
          <p:cNvSpPr txBox="1"/>
          <p:nvPr/>
        </p:nvSpPr>
        <p:spPr>
          <a:xfrm>
            <a:off x="5393716" y="6385560"/>
            <a:ext cx="11899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>
                <a:latin typeface="Noto Sans KR" panose="020B0200000000000000" pitchFamily="50" charset="-127"/>
                <a:ea typeface="Noto Sans KR" panose="020B0200000000000000" pitchFamily="50" charset="-127"/>
              </a:rPr>
              <a:t>예측 실행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53FBA9-9D7E-8697-96E0-E342435EA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35966E-4271-42CA-657A-31759BB9E53D}"/>
              </a:ext>
            </a:extLst>
          </p:cNvPr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4861F8B-8DDB-0677-0112-8A8B8B25BD8F}"/>
              </a:ext>
            </a:extLst>
          </p:cNvPr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086B36E-D706-EF4F-EF78-5585E105BCEE}"/>
              </a:ext>
            </a:extLst>
          </p:cNvPr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Page Title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4E4E615-4B5D-8BFC-F8FF-BE5E00F2A3D8}"/>
              </a:ext>
            </a:extLst>
          </p:cNvPr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E2C3126-223C-7B43-5499-1C1A640555B3}"/>
              </a:ext>
            </a:extLst>
          </p:cNvPr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그룹 분석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8D257B5-28E4-D528-18C4-686EC5F0D233}"/>
              </a:ext>
            </a:extLst>
          </p:cNvPr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FC94EED-107C-2128-A6B8-BA1D4A62EED3}"/>
              </a:ext>
            </a:extLst>
          </p:cNvPr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ID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F67410D-2D93-40DC-75EA-343E8E4563D6}"/>
              </a:ext>
            </a:extLst>
          </p:cNvPr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2D68D5A6-216F-F54E-5D87-6E6C589BCA5E}"/>
              </a:ext>
            </a:extLst>
          </p:cNvPr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S-03b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57BDC3C-5325-E42A-A04C-D115A34DF296}"/>
              </a:ext>
            </a:extLst>
          </p:cNvPr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F84B077-F8DD-D0DF-C7D4-E58465975209}"/>
              </a:ext>
            </a:extLst>
          </p:cNvPr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Author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E45E2FF-232B-DAFC-B5F4-D791BA3522FC}"/>
              </a:ext>
            </a:extLst>
          </p:cNvPr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91D1884-F3D0-7493-0269-1B1B1DFCC7E4}"/>
              </a:ext>
            </a:extLst>
          </p:cNvPr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이정민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563C8A4-AE0A-F1C8-1DC9-D5F665A609E5}"/>
              </a:ext>
            </a:extLst>
          </p:cNvPr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35AD42A-93F9-D6BF-C9C1-6E318184055B}"/>
              </a:ext>
            </a:extLst>
          </p:cNvPr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7C87B664-5515-4D53-F8D2-D6D65EC4A7BE}"/>
              </a:ext>
            </a:extLst>
          </p:cNvPr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55A79D6-11C1-488F-6665-0CF8DC62AF3C}"/>
              </a:ext>
            </a:extLst>
          </p:cNvPr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2026.03.20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458816C-70ED-A6FE-2A30-9080E3C15B2B}"/>
              </a:ext>
            </a:extLst>
          </p:cNvPr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243E89B-0EAF-A088-2661-0EC083C6DC02}"/>
              </a:ext>
            </a:extLst>
          </p:cNvPr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Path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480288E-D838-23B4-EE36-E71672A54199}"/>
              </a:ext>
            </a:extLst>
          </p:cNvPr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3B6EEEA2-C071-2B09-4994-BFB22FA3273B}"/>
              </a:ext>
            </a:extLst>
          </p:cNvPr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OTT Analytics → 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그룹 분석 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FE3BBE43-22C9-EF4B-ABDE-2A4E79ED07DE}"/>
              </a:ext>
            </a:extLst>
          </p:cNvPr>
          <p:cNvSpPr/>
          <p:nvPr/>
        </p:nvSpPr>
        <p:spPr>
          <a:xfrm>
            <a:off x="228600" y="982979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589FBB77-C78F-B7BA-BBDC-8832EA3B7E89}"/>
              </a:ext>
            </a:extLst>
          </p:cNvPr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D379D1F4-E2F4-4786-1BF4-E91666EA26B2}"/>
              </a:ext>
            </a:extLst>
          </p:cNvPr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Description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2292BA94-ECBF-DE68-FE97-08EE48B544EC}"/>
              </a:ext>
            </a:extLst>
          </p:cNvPr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A2D5F47F-2032-D701-A0A7-642ECF5056AB}"/>
              </a:ext>
            </a:extLst>
          </p:cNvPr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CC859538-9A37-4B7A-3A3B-26BA5C9AA50C}"/>
              </a:ext>
            </a:extLst>
          </p:cNvPr>
          <p:cNvSpPr/>
          <p:nvPr/>
        </p:nvSpPr>
        <p:spPr>
          <a:xfrm>
            <a:off x="9290304" y="1225296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B9960F4-D55B-DF47-9FC7-227E940855BB}"/>
              </a:ext>
            </a:extLst>
          </p:cNvPr>
          <p:cNvSpPr/>
          <p:nvPr/>
        </p:nvSpPr>
        <p:spPr>
          <a:xfrm>
            <a:off x="9336024" y="1261872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예측 결과 제목 영역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18DE5CAD-B0F2-87FD-A89B-4CEA3433BC08}"/>
              </a:ext>
            </a:extLst>
          </p:cNvPr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4270524-D771-B50A-A5BE-CA4B1F796E73}"/>
              </a:ext>
            </a:extLst>
          </p:cNvPr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535C36AA-D371-B450-963E-B669170EC9DF}"/>
              </a:ext>
            </a:extLst>
          </p:cNvPr>
          <p:cNvSpPr/>
          <p:nvPr/>
        </p:nvSpPr>
        <p:spPr>
          <a:xfrm>
            <a:off x="9290304" y="1627632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1E0E807D-1F76-E2A1-B969-2EA526A92CE5}"/>
              </a:ext>
            </a:extLst>
          </p:cNvPr>
          <p:cNvSpPr/>
          <p:nvPr/>
        </p:nvSpPr>
        <p:spPr>
          <a:xfrm>
            <a:off x="9336024" y="1664208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결과 카드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“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안정 구독자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메일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~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 이상 이용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낮음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카드 라벨 밑에 설명 추가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예측 결과가 해당 그룹일 때 강조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(border)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1DE018C9-69F2-0E46-37D1-E4DE1565E574}"/>
              </a:ext>
            </a:extLst>
          </p:cNvPr>
          <p:cNvSpPr/>
          <p:nvPr/>
        </p:nvSpPr>
        <p:spPr>
          <a:xfrm>
            <a:off x="9034272" y="2340864"/>
            <a:ext cx="256032" cy="722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44E6C5F1-F658-E456-C26D-CA638F3A31A3}"/>
              </a:ext>
            </a:extLst>
          </p:cNvPr>
          <p:cNvSpPr/>
          <p:nvPr/>
        </p:nvSpPr>
        <p:spPr>
          <a:xfrm>
            <a:off x="9034272" y="234086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B96D9418-C955-C118-25C5-0A745E537B97}"/>
              </a:ext>
            </a:extLst>
          </p:cNvPr>
          <p:cNvSpPr/>
          <p:nvPr/>
        </p:nvSpPr>
        <p:spPr>
          <a:xfrm>
            <a:off x="9290304" y="2340864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8AABE1F4-2074-89C6-10F3-80F19D696F34}"/>
              </a:ext>
            </a:extLst>
          </p:cNvPr>
          <p:cNvSpPr/>
          <p:nvPr/>
        </p:nvSpPr>
        <p:spPr>
          <a:xfrm>
            <a:off x="9336024" y="2377440"/>
            <a:ext cx="2642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결과 카드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“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관찰 필요 구독자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1~4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 이용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</a:p>
          <a:p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관찰 대상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카드 라벨 밑에 설명 추가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예측 결과가 해당 그룹일 때 강조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(border)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</a:t>
            </a:r>
            <a:endParaRPr lang="en-US" altLang="ko-KR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C5CAD7F9-DDE9-627E-689F-2383B8F3B0CD}"/>
              </a:ext>
            </a:extLst>
          </p:cNvPr>
          <p:cNvSpPr/>
          <p:nvPr/>
        </p:nvSpPr>
        <p:spPr>
          <a:xfrm>
            <a:off x="9034272" y="4465320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300C35DA-333F-D3CC-BC67-BC2893222FAE}"/>
              </a:ext>
            </a:extLst>
          </p:cNvPr>
          <p:cNvSpPr/>
          <p:nvPr/>
        </p:nvSpPr>
        <p:spPr>
          <a:xfrm>
            <a:off x="9034272" y="44653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Check Point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5A4EE8BD-6BFE-6AAA-7E6B-9D33209F4F16}"/>
              </a:ext>
            </a:extLst>
          </p:cNvPr>
          <p:cNvSpPr/>
          <p:nvPr/>
        </p:nvSpPr>
        <p:spPr>
          <a:xfrm>
            <a:off x="9034272" y="4703064"/>
            <a:ext cx="301752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8" name="Text 55">
            <a:extLst>
              <a:ext uri="{FF2B5EF4-FFF2-40B4-BE49-F238E27FC236}">
                <a16:creationId xmlns:a16="http://schemas.microsoft.com/office/drawing/2014/main" id="{C683ED29-0E41-D5D7-0C07-259E7A01F426}"/>
              </a:ext>
            </a:extLst>
          </p:cNvPr>
          <p:cNvSpPr/>
          <p:nvPr/>
        </p:nvSpPr>
        <p:spPr>
          <a:xfrm>
            <a:off x="9125712" y="4757928"/>
            <a:ext cx="28346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 결과가 해당 그룹 카드면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border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로 강조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나머지는 기본 스타일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고빈도는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primary,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중빈도는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warning, </a:t>
            </a:r>
          </a:p>
          <a:p>
            <a:pPr marL="0" indent="0">
              <a:buNone/>
            </a:pP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저빈도는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danger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사용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결과 영역은 예측 실행 전에는 빈 상태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94157A57-8F0D-1088-A7A2-E349706DE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272" y="1068323"/>
            <a:ext cx="8689848" cy="5725667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A02B4AC4-2117-93ED-BF68-F26A0F71A07D}"/>
              </a:ext>
            </a:extLst>
          </p:cNvPr>
          <p:cNvSpPr/>
          <p:nvPr/>
        </p:nvSpPr>
        <p:spPr>
          <a:xfrm>
            <a:off x="3801478" y="1038994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855DA96D-AB64-1EB0-2DC9-CF31420AF8FA}"/>
              </a:ext>
            </a:extLst>
          </p:cNvPr>
          <p:cNvSpPr/>
          <p:nvPr/>
        </p:nvSpPr>
        <p:spPr>
          <a:xfrm>
            <a:off x="3022994" y="1353187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D255C1BE-AC0A-53D1-0E81-85D440623F33}"/>
              </a:ext>
            </a:extLst>
          </p:cNvPr>
          <p:cNvSpPr/>
          <p:nvPr/>
        </p:nvSpPr>
        <p:spPr>
          <a:xfrm>
            <a:off x="3004706" y="2935224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C9DEB91B-449A-3DC5-69D9-4A24CA646B92}"/>
              </a:ext>
            </a:extLst>
          </p:cNvPr>
          <p:cNvSpPr/>
          <p:nvPr/>
        </p:nvSpPr>
        <p:spPr>
          <a:xfrm>
            <a:off x="3004706" y="4479142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B7417B14-527E-C884-D8A3-AA098D161303}"/>
              </a:ext>
            </a:extLst>
          </p:cNvPr>
          <p:cNvSpPr/>
          <p:nvPr/>
        </p:nvSpPr>
        <p:spPr>
          <a:xfrm>
            <a:off x="3022994" y="6023060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805460F-FCD8-9FA2-09C1-C827A28D1CF5}"/>
              </a:ext>
            </a:extLst>
          </p:cNvPr>
          <p:cNvSpPr txBox="1"/>
          <p:nvPr/>
        </p:nvSpPr>
        <p:spPr>
          <a:xfrm>
            <a:off x="4181856" y="1060704"/>
            <a:ext cx="124358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  <a:cs typeface="Calibri" panose="020F0502020204030204" pitchFamily="34" charset="0"/>
              </a:rPr>
              <a:t>예측 결과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671B89-1305-E36C-9BA5-B8EFC2D0B50A}"/>
              </a:ext>
            </a:extLst>
          </p:cNvPr>
          <p:cNvSpPr txBox="1"/>
          <p:nvPr/>
        </p:nvSpPr>
        <p:spPr>
          <a:xfrm>
            <a:off x="3302166" y="1627064"/>
            <a:ext cx="891882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고빈도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286DA92-99A1-2AD5-FC2A-E17DD82D16A6}"/>
              </a:ext>
            </a:extLst>
          </p:cNvPr>
          <p:cNvSpPr txBox="1"/>
          <p:nvPr/>
        </p:nvSpPr>
        <p:spPr>
          <a:xfrm>
            <a:off x="3302166" y="3204465"/>
            <a:ext cx="891882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중빈도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9FFB9FE-7893-C8D0-E74C-4D3D769363B6}"/>
              </a:ext>
            </a:extLst>
          </p:cNvPr>
          <p:cNvSpPr txBox="1"/>
          <p:nvPr/>
        </p:nvSpPr>
        <p:spPr>
          <a:xfrm>
            <a:off x="3302166" y="4779520"/>
            <a:ext cx="891882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저빈도</a:t>
            </a:r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8" name="Shape 32">
            <a:extLst>
              <a:ext uri="{FF2B5EF4-FFF2-40B4-BE49-F238E27FC236}">
                <a16:creationId xmlns:a16="http://schemas.microsoft.com/office/drawing/2014/main" id="{8963680F-A019-8885-8FE6-DB4BAF1D0725}"/>
              </a:ext>
            </a:extLst>
          </p:cNvPr>
          <p:cNvSpPr/>
          <p:nvPr/>
        </p:nvSpPr>
        <p:spPr>
          <a:xfrm>
            <a:off x="9034272" y="3047876"/>
            <a:ext cx="256032" cy="722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9" name="Text 33">
            <a:extLst>
              <a:ext uri="{FF2B5EF4-FFF2-40B4-BE49-F238E27FC236}">
                <a16:creationId xmlns:a16="http://schemas.microsoft.com/office/drawing/2014/main" id="{4E36463F-6DB7-5CA1-9E4B-F31E6F648D8E}"/>
              </a:ext>
            </a:extLst>
          </p:cNvPr>
          <p:cNvSpPr/>
          <p:nvPr/>
        </p:nvSpPr>
        <p:spPr>
          <a:xfrm>
            <a:off x="9034272" y="3047876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0" name="Shape 34">
            <a:extLst>
              <a:ext uri="{FF2B5EF4-FFF2-40B4-BE49-F238E27FC236}">
                <a16:creationId xmlns:a16="http://schemas.microsoft.com/office/drawing/2014/main" id="{F4C66103-DC32-51C6-8F56-29B2F4082AEE}"/>
              </a:ext>
            </a:extLst>
          </p:cNvPr>
          <p:cNvSpPr/>
          <p:nvPr/>
        </p:nvSpPr>
        <p:spPr>
          <a:xfrm>
            <a:off x="9290304" y="3047876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1" name="Text 35">
            <a:extLst>
              <a:ext uri="{FF2B5EF4-FFF2-40B4-BE49-F238E27FC236}">
                <a16:creationId xmlns:a16="http://schemas.microsoft.com/office/drawing/2014/main" id="{4A1C746A-969F-25CE-4E59-C1E072512BB2}"/>
              </a:ext>
            </a:extLst>
          </p:cNvPr>
          <p:cNvSpPr/>
          <p:nvPr/>
        </p:nvSpPr>
        <p:spPr>
          <a:xfrm>
            <a:off x="9336024" y="3084452"/>
            <a:ext cx="2642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결과 카드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“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</a:t>
            </a: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위험군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1~3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회 이하 이용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</a:t>
            </a:r>
          </a:p>
          <a:p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적극적 개입 필요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”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카드 라벨 밑에 설명 추가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예측 결과가 해당 그룹일 때 강조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(border)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2" name="Shape 32">
            <a:extLst>
              <a:ext uri="{FF2B5EF4-FFF2-40B4-BE49-F238E27FC236}">
                <a16:creationId xmlns:a16="http://schemas.microsoft.com/office/drawing/2014/main" id="{C36C2C0C-590C-506F-F342-11067BD442A4}"/>
              </a:ext>
            </a:extLst>
          </p:cNvPr>
          <p:cNvSpPr/>
          <p:nvPr/>
        </p:nvSpPr>
        <p:spPr>
          <a:xfrm>
            <a:off x="9034272" y="3730752"/>
            <a:ext cx="256032" cy="722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3" name="Text 33">
            <a:extLst>
              <a:ext uri="{FF2B5EF4-FFF2-40B4-BE49-F238E27FC236}">
                <a16:creationId xmlns:a16="http://schemas.microsoft.com/office/drawing/2014/main" id="{948D0444-C519-936F-6E80-BB3E0DE1EDCA}"/>
              </a:ext>
            </a:extLst>
          </p:cNvPr>
          <p:cNvSpPr/>
          <p:nvPr/>
        </p:nvSpPr>
        <p:spPr>
          <a:xfrm>
            <a:off x="9034272" y="3730752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</a:p>
        </p:txBody>
      </p:sp>
      <p:sp>
        <p:nvSpPr>
          <p:cNvPr id="84" name="Shape 34">
            <a:extLst>
              <a:ext uri="{FF2B5EF4-FFF2-40B4-BE49-F238E27FC236}">
                <a16:creationId xmlns:a16="http://schemas.microsoft.com/office/drawing/2014/main" id="{BF8FC8D3-20FC-5D16-0394-648C1D29F5A5}"/>
              </a:ext>
            </a:extLst>
          </p:cNvPr>
          <p:cNvSpPr/>
          <p:nvPr/>
        </p:nvSpPr>
        <p:spPr>
          <a:xfrm>
            <a:off x="9290304" y="3730752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5" name="Text 35">
            <a:extLst>
              <a:ext uri="{FF2B5EF4-FFF2-40B4-BE49-F238E27FC236}">
                <a16:creationId xmlns:a16="http://schemas.microsoft.com/office/drawing/2014/main" id="{AFA37422-F81A-8516-A264-5E90088EC590}"/>
              </a:ext>
            </a:extLst>
          </p:cNvPr>
          <p:cNvSpPr/>
          <p:nvPr/>
        </p:nvSpPr>
        <p:spPr>
          <a:xfrm>
            <a:off x="9336024" y="3767328"/>
            <a:ext cx="26426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 결과 설명 카드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카드 라벨 밑에 있는 추가 설명 출력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243E044F-04DE-183A-A386-DF3E003CE579}"/>
              </a:ext>
            </a:extLst>
          </p:cNvPr>
          <p:cNvSpPr txBox="1"/>
          <p:nvPr/>
        </p:nvSpPr>
        <p:spPr>
          <a:xfrm>
            <a:off x="3338742" y="6073484"/>
            <a:ext cx="99551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예측내용</a:t>
            </a:r>
          </a:p>
        </p:txBody>
      </p:sp>
    </p:spTree>
    <p:extLst>
      <p:ext uri="{BB962C8B-B14F-4D97-AF65-F5344CB8AC3E}">
        <p14:creationId xmlns:p14="http://schemas.microsoft.com/office/powerpoint/2010/main" val="752525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5267FE-CE30-2212-5EAA-B16DAB8A2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D480360-B7F2-E56D-E107-83DA7C854ECF}"/>
              </a:ext>
            </a:extLst>
          </p:cNvPr>
          <p:cNvSpPr/>
          <p:nvPr/>
        </p:nvSpPr>
        <p:spPr>
          <a:xfrm>
            <a:off x="228600" y="118872"/>
            <a:ext cx="11823192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4A9592-22EC-0C18-6E6A-E39A13D2430B}"/>
              </a:ext>
            </a:extLst>
          </p:cNvPr>
          <p:cNvSpPr/>
          <p:nvPr/>
        </p:nvSpPr>
        <p:spPr>
          <a:xfrm>
            <a:off x="228600" y="118872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C0568D-5DC9-0635-9E12-9E939E665CBE}"/>
              </a:ext>
            </a:extLst>
          </p:cNvPr>
          <p:cNvSpPr/>
          <p:nvPr/>
        </p:nvSpPr>
        <p:spPr>
          <a:xfrm>
            <a:off x="274320" y="118872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Page Title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00FF3AB-76F6-0825-B32E-621B74E31B03}"/>
              </a:ext>
            </a:extLst>
          </p:cNvPr>
          <p:cNvSpPr/>
          <p:nvPr/>
        </p:nvSpPr>
        <p:spPr>
          <a:xfrm>
            <a:off x="1143000" y="118872"/>
            <a:ext cx="23774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95F4407-2485-7477-E8C2-A5184BA196EA}"/>
              </a:ext>
            </a:extLst>
          </p:cNvPr>
          <p:cNvSpPr/>
          <p:nvPr/>
        </p:nvSpPr>
        <p:spPr>
          <a:xfrm>
            <a:off x="1197864" y="11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그룹 분석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D4119F7-6561-C0E6-515F-32CE508FA931}"/>
              </a:ext>
            </a:extLst>
          </p:cNvPr>
          <p:cNvSpPr/>
          <p:nvPr/>
        </p:nvSpPr>
        <p:spPr>
          <a:xfrm>
            <a:off x="3520440" y="118872"/>
            <a:ext cx="804672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939B20C-BC11-B936-7BD3-1C7B81357CE6}"/>
              </a:ext>
            </a:extLst>
          </p:cNvPr>
          <p:cNvSpPr/>
          <p:nvPr/>
        </p:nvSpPr>
        <p:spPr>
          <a:xfrm>
            <a:off x="3566160" y="118872"/>
            <a:ext cx="731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ID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0A6E7A7-02ED-0C38-3B88-1BA87E4463D2}"/>
              </a:ext>
            </a:extLst>
          </p:cNvPr>
          <p:cNvSpPr/>
          <p:nvPr/>
        </p:nvSpPr>
        <p:spPr>
          <a:xfrm>
            <a:off x="4325112" y="118872"/>
            <a:ext cx="203911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A18F9CD-7BDA-2662-9B1D-C0080B942696}"/>
              </a:ext>
            </a:extLst>
          </p:cNvPr>
          <p:cNvSpPr/>
          <p:nvPr/>
        </p:nvSpPr>
        <p:spPr>
          <a:xfrm>
            <a:off x="4379976" y="118872"/>
            <a:ext cx="1947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S-03c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739726A-BBBF-32D3-367C-D2A61873DC0A}"/>
              </a:ext>
            </a:extLst>
          </p:cNvPr>
          <p:cNvSpPr/>
          <p:nvPr/>
        </p:nvSpPr>
        <p:spPr>
          <a:xfrm>
            <a:off x="6364224" y="118872"/>
            <a:ext cx="65836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775853E-13BC-BBB9-7E93-41A4C1F7710E}"/>
              </a:ext>
            </a:extLst>
          </p:cNvPr>
          <p:cNvSpPr/>
          <p:nvPr/>
        </p:nvSpPr>
        <p:spPr>
          <a:xfrm>
            <a:off x="6409944" y="118872"/>
            <a:ext cx="5852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Author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0ED3CEE-F869-CD9F-3598-49BDDF227C29}"/>
              </a:ext>
            </a:extLst>
          </p:cNvPr>
          <p:cNvSpPr/>
          <p:nvPr/>
        </p:nvSpPr>
        <p:spPr>
          <a:xfrm>
            <a:off x="7022592" y="118872"/>
            <a:ext cx="218541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A4DDABE-1D7D-C941-2E55-24D75C6F8923}"/>
              </a:ext>
            </a:extLst>
          </p:cNvPr>
          <p:cNvSpPr/>
          <p:nvPr/>
        </p:nvSpPr>
        <p:spPr>
          <a:xfrm>
            <a:off x="7077456" y="118872"/>
            <a:ext cx="2093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이정민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0CA0A12-F73A-583A-C56F-130AFB1F2332}"/>
              </a:ext>
            </a:extLst>
          </p:cNvPr>
          <p:cNvSpPr/>
          <p:nvPr/>
        </p:nvSpPr>
        <p:spPr>
          <a:xfrm>
            <a:off x="9208008" y="118872"/>
            <a:ext cx="475488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2B32DC7-DF60-E36C-2E36-E43CCB6BDF05}"/>
              </a:ext>
            </a:extLst>
          </p:cNvPr>
          <p:cNvSpPr/>
          <p:nvPr/>
        </p:nvSpPr>
        <p:spPr>
          <a:xfrm>
            <a:off x="9253728" y="118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Date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1DA08AE-2DBA-A774-0E5C-0FA7176B277D}"/>
              </a:ext>
            </a:extLst>
          </p:cNvPr>
          <p:cNvSpPr/>
          <p:nvPr/>
        </p:nvSpPr>
        <p:spPr>
          <a:xfrm>
            <a:off x="9683496" y="118872"/>
            <a:ext cx="2368296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DE7ADAED-EA4E-76B6-6E99-4CDDA77D4D53}"/>
              </a:ext>
            </a:extLst>
          </p:cNvPr>
          <p:cNvSpPr/>
          <p:nvPr/>
        </p:nvSpPr>
        <p:spPr>
          <a:xfrm>
            <a:off x="9738360" y="118872"/>
            <a:ext cx="22768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2026.03.20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729E8B56-C366-A092-E5A9-E2D8EBE22DE3}"/>
              </a:ext>
            </a:extLst>
          </p:cNvPr>
          <p:cNvSpPr/>
          <p:nvPr/>
        </p:nvSpPr>
        <p:spPr>
          <a:xfrm>
            <a:off x="228600" y="521208"/>
            <a:ext cx="914400" cy="402336"/>
          </a:xfrm>
          <a:prstGeom prst="rect">
            <a:avLst/>
          </a:prstGeom>
          <a:solidFill>
            <a:srgbClr val="F3F4F6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B2F2D3F-6BE7-4765-E42E-5B6CB0AE7F73}"/>
              </a:ext>
            </a:extLst>
          </p:cNvPr>
          <p:cNvSpPr/>
          <p:nvPr/>
        </p:nvSpPr>
        <p:spPr>
          <a:xfrm>
            <a:off x="274320" y="521208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415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Screen Path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CE89847-12AF-7967-F773-FAA3B7A25D03}"/>
              </a:ext>
            </a:extLst>
          </p:cNvPr>
          <p:cNvSpPr/>
          <p:nvPr/>
        </p:nvSpPr>
        <p:spPr>
          <a:xfrm>
            <a:off x="1143000" y="521208"/>
            <a:ext cx="1090879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844AE91-C354-F2A6-53F7-488C06033B9D}"/>
              </a:ext>
            </a:extLst>
          </p:cNvPr>
          <p:cNvSpPr/>
          <p:nvPr/>
        </p:nvSpPr>
        <p:spPr>
          <a:xfrm>
            <a:off x="1197864" y="521208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OTT Analytics → 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이탈 위험 그룹 분석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차트</a:t>
            </a:r>
            <a:r>
              <a:rPr lang="en-US" altLang="ko-KR" sz="1100" dirty="0">
                <a:solidFill>
                  <a:srgbClr val="111827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918E4A5-2548-8742-BC23-E7C940141F35}"/>
              </a:ext>
            </a:extLst>
          </p:cNvPr>
          <p:cNvSpPr/>
          <p:nvPr/>
        </p:nvSpPr>
        <p:spPr>
          <a:xfrm>
            <a:off x="228600" y="982980"/>
            <a:ext cx="8732520" cy="57515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2192FFC3-0B99-8CF7-EBF3-99F106977C37}"/>
              </a:ext>
            </a:extLst>
          </p:cNvPr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6642F4A4-A886-596F-53A6-2C51908D27DD}"/>
              </a:ext>
            </a:extLst>
          </p:cNvPr>
          <p:cNvSpPr/>
          <p:nvPr/>
        </p:nvSpPr>
        <p:spPr>
          <a:xfrm>
            <a:off x="9034272" y="987552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Description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7518123-0175-2827-FDA2-5BB9ECDD7D2C}"/>
              </a:ext>
            </a:extLst>
          </p:cNvPr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F51172FF-B481-E53D-0F04-059E525B7D9C}"/>
              </a:ext>
            </a:extLst>
          </p:cNvPr>
          <p:cNvSpPr/>
          <p:nvPr/>
        </p:nvSpPr>
        <p:spPr>
          <a:xfrm>
            <a:off x="9034272" y="1225296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F93A371D-B91A-5925-1AD4-EE2C5BF5A82A}"/>
              </a:ext>
            </a:extLst>
          </p:cNvPr>
          <p:cNvSpPr/>
          <p:nvPr/>
        </p:nvSpPr>
        <p:spPr>
          <a:xfrm>
            <a:off x="9290304" y="1225296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4A094406-61C3-A0CE-9305-EF866EFA9B92}"/>
              </a:ext>
            </a:extLst>
          </p:cNvPr>
          <p:cNvSpPr/>
          <p:nvPr/>
        </p:nvSpPr>
        <p:spPr>
          <a:xfrm>
            <a:off x="9336024" y="1261872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전체 유저 그룹 분포 차트 영역 라벨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2EE25678-0F4D-12C4-FD72-C1273EEA62D6}"/>
              </a:ext>
            </a:extLst>
          </p:cNvPr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2C6D65C9-A3E4-AFE4-1A74-2138F6F06D90}"/>
              </a:ext>
            </a:extLst>
          </p:cNvPr>
          <p:cNvSpPr/>
          <p:nvPr/>
        </p:nvSpPr>
        <p:spPr>
          <a:xfrm>
            <a:off x="9034272" y="1627632"/>
            <a:ext cx="256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77904A04-04CB-F139-EB1A-CF7EDE434D40}"/>
              </a:ext>
            </a:extLst>
          </p:cNvPr>
          <p:cNvSpPr/>
          <p:nvPr/>
        </p:nvSpPr>
        <p:spPr>
          <a:xfrm>
            <a:off x="9290304" y="1627632"/>
            <a:ext cx="2761488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D8DF2934-F53F-9846-2207-EB010443AE39}"/>
              </a:ext>
            </a:extLst>
          </p:cNvPr>
          <p:cNvSpPr/>
          <p:nvPr/>
        </p:nvSpPr>
        <p:spPr>
          <a:xfrm>
            <a:off x="9336024" y="1664208"/>
            <a:ext cx="26426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전체 유저 그룹 분포 파이 차트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 </a:t>
            </a: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인원수 로드</a:t>
            </a:r>
            <a:endParaRPr lang="en-US" altLang="ko-KR" sz="1100" dirty="0">
              <a:solidFill>
                <a:srgbClr val="333333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Async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방식으로 입력 값 바꿔도 렌더링 유지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6911315F-9C34-DEBA-7080-D84267AA3D81}"/>
              </a:ext>
            </a:extLst>
          </p:cNvPr>
          <p:cNvSpPr/>
          <p:nvPr/>
        </p:nvSpPr>
        <p:spPr>
          <a:xfrm>
            <a:off x="9034272" y="234086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31A00F6F-D9E5-26F1-62D4-BF9E0946634E}"/>
              </a:ext>
            </a:extLst>
          </p:cNvPr>
          <p:cNvSpPr/>
          <p:nvPr/>
        </p:nvSpPr>
        <p:spPr>
          <a:xfrm>
            <a:off x="9034272" y="234086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7BC6EA23-2794-F759-5A87-6E8C6A2C3109}"/>
              </a:ext>
            </a:extLst>
          </p:cNvPr>
          <p:cNvSpPr/>
          <p:nvPr/>
        </p:nvSpPr>
        <p:spPr>
          <a:xfrm>
            <a:off x="9290304" y="234086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F136697B-1C33-1845-68B4-2632079874CA}"/>
              </a:ext>
            </a:extLst>
          </p:cNvPr>
          <p:cNvSpPr/>
          <p:nvPr/>
        </p:nvSpPr>
        <p:spPr>
          <a:xfrm>
            <a:off x="9336024" y="237744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차트 범례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고빈도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(primary) / </a:t>
            </a: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(warning) / </a:t>
            </a: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저빈도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(danger)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색상과 인원 수 표시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44A77F99-3B5B-159C-D073-ED3AFEBD5600}"/>
              </a:ext>
            </a:extLst>
          </p:cNvPr>
          <p:cNvSpPr/>
          <p:nvPr/>
        </p:nvSpPr>
        <p:spPr>
          <a:xfrm>
            <a:off x="9034272" y="2898648"/>
            <a:ext cx="256032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1230D7B0-74A9-14EB-DDAC-615A11A62719}"/>
              </a:ext>
            </a:extLst>
          </p:cNvPr>
          <p:cNvSpPr/>
          <p:nvPr/>
        </p:nvSpPr>
        <p:spPr>
          <a:xfrm>
            <a:off x="9034272" y="2898648"/>
            <a:ext cx="2560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D13AD780-5574-4972-507F-F1A125290D27}"/>
              </a:ext>
            </a:extLst>
          </p:cNvPr>
          <p:cNvSpPr/>
          <p:nvPr/>
        </p:nvSpPr>
        <p:spPr>
          <a:xfrm>
            <a:off x="9290304" y="2898648"/>
            <a:ext cx="2761488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8F486868-41EC-6098-740F-61713CB9A8F2}"/>
              </a:ext>
            </a:extLst>
          </p:cNvPr>
          <p:cNvSpPr/>
          <p:nvPr/>
        </p:nvSpPr>
        <p:spPr>
          <a:xfrm>
            <a:off x="9336024" y="2935224"/>
            <a:ext cx="2642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SHAP 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기반 예측 근거 카드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예측 실행 후 결과에 맞춰 동적 생성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AF4DD1E0-6DA3-6EA8-0F67-C538958AF195}"/>
              </a:ext>
            </a:extLst>
          </p:cNvPr>
          <p:cNvSpPr/>
          <p:nvPr/>
        </p:nvSpPr>
        <p:spPr>
          <a:xfrm>
            <a:off x="9034272" y="3300984"/>
            <a:ext cx="256032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98F42D78-C95F-DFC8-A8DD-2756519655BC}"/>
              </a:ext>
            </a:extLst>
          </p:cNvPr>
          <p:cNvSpPr/>
          <p:nvPr/>
        </p:nvSpPr>
        <p:spPr>
          <a:xfrm>
            <a:off x="9034272" y="3300984"/>
            <a:ext cx="256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60BEA843-BC80-427E-94A6-261A19097D97}"/>
              </a:ext>
            </a:extLst>
          </p:cNvPr>
          <p:cNvSpPr/>
          <p:nvPr/>
        </p:nvSpPr>
        <p:spPr>
          <a:xfrm>
            <a:off x="9290304" y="3300984"/>
            <a:ext cx="27614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418D14DF-5415-65A3-71B8-9BCCED4411E8}"/>
              </a:ext>
            </a:extLst>
          </p:cNvPr>
          <p:cNvSpPr/>
          <p:nvPr/>
        </p:nvSpPr>
        <p:spPr>
          <a:xfrm>
            <a:off x="9336024" y="3337560"/>
            <a:ext cx="2642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 err="1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푸터</a:t>
            </a:r>
            <a:r>
              <a:rPr lang="ko-KR" altLang="en-US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영역</a:t>
            </a:r>
            <a:r>
              <a:rPr lang="en-US" altLang="ko-KR" sz="1100" dirty="0">
                <a:solidFill>
                  <a:srgbClr val="333333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6D3B36C4-8A4F-7D1F-8025-BAA1C6F14451}"/>
              </a:ext>
            </a:extLst>
          </p:cNvPr>
          <p:cNvSpPr/>
          <p:nvPr/>
        </p:nvSpPr>
        <p:spPr>
          <a:xfrm>
            <a:off x="9034272" y="3880104"/>
            <a:ext cx="301752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CB7E9D9E-EFDE-E5DE-DFF7-8BDA340EB7CB}"/>
              </a:ext>
            </a:extLst>
          </p:cNvPr>
          <p:cNvSpPr/>
          <p:nvPr/>
        </p:nvSpPr>
        <p:spPr>
          <a:xfrm>
            <a:off x="9034272" y="38801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Check Point</a:t>
            </a: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8CF28E5E-E6E0-283C-9947-82CC97F9B8E7}"/>
              </a:ext>
            </a:extLst>
          </p:cNvPr>
          <p:cNvSpPr/>
          <p:nvPr/>
        </p:nvSpPr>
        <p:spPr>
          <a:xfrm>
            <a:off x="9034272" y="4117848"/>
            <a:ext cx="3017520" cy="1353312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ko-KR" altLang="en-US" sz="110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58" name="Text 55">
            <a:extLst>
              <a:ext uri="{FF2B5EF4-FFF2-40B4-BE49-F238E27FC236}">
                <a16:creationId xmlns:a16="http://schemas.microsoft.com/office/drawing/2014/main" id="{B203F6F2-A68A-F0A5-A6B8-52FEF3117151}"/>
              </a:ext>
            </a:extLst>
          </p:cNvPr>
          <p:cNvSpPr/>
          <p:nvPr/>
        </p:nvSpPr>
        <p:spPr>
          <a:xfrm>
            <a:off x="9125712" y="4172712"/>
            <a:ext cx="28346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파이 차트는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PREDICTION_RESULT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기반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파이 차트에 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offset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적용하여 해당 그룹 강조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altLang="ko-KR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SHAP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인사이트 텍스트는 머신 러닝 예측 후 생성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r>
              <a:rPr 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예측 실행 전에는 빈 상태</a:t>
            </a:r>
            <a:r>
              <a:rPr lang="en-US" altLang="ko-KR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 marL="0" indent="0">
              <a:buNone/>
            </a:pPr>
            <a:endParaRPr lang="en-US" sz="11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51E0908E-1573-8BE1-25D8-598F5C48C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032" y="1008266"/>
            <a:ext cx="8686800" cy="5726289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6C4FE2C6-4E98-D1D6-B4B8-9D170F6F28EA}"/>
              </a:ext>
            </a:extLst>
          </p:cNvPr>
          <p:cNvSpPr/>
          <p:nvPr/>
        </p:nvSpPr>
        <p:spPr>
          <a:xfrm>
            <a:off x="3421349" y="1054359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E42B2509-2D4B-A0C7-FD3A-EC8CF3F717FE}"/>
              </a:ext>
            </a:extLst>
          </p:cNvPr>
          <p:cNvSpPr/>
          <p:nvPr/>
        </p:nvSpPr>
        <p:spPr>
          <a:xfrm>
            <a:off x="3801478" y="1528447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3FB402B2-C527-5B82-E08A-779F30F972FA}"/>
              </a:ext>
            </a:extLst>
          </p:cNvPr>
          <p:cNvSpPr/>
          <p:nvPr/>
        </p:nvSpPr>
        <p:spPr>
          <a:xfrm>
            <a:off x="2780398" y="3093471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C08FB04-F106-98BF-E339-E82F73F1110A}"/>
              </a:ext>
            </a:extLst>
          </p:cNvPr>
          <p:cNvSpPr/>
          <p:nvPr/>
        </p:nvSpPr>
        <p:spPr>
          <a:xfrm>
            <a:off x="2901696" y="3911608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51E2B36B-31FA-79CF-3E68-55550FC3D358}"/>
              </a:ext>
            </a:extLst>
          </p:cNvPr>
          <p:cNvSpPr/>
          <p:nvPr/>
        </p:nvSpPr>
        <p:spPr>
          <a:xfrm>
            <a:off x="2821173" y="5708903"/>
            <a:ext cx="242596" cy="207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endParaRPr lang="ko-KR" altLang="en-US" sz="1100" dirty="0">
              <a:solidFill>
                <a:schemeClr val="tx1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1E7D449-693F-1049-87FA-1E4EE2330A61}"/>
              </a:ext>
            </a:extLst>
          </p:cNvPr>
          <p:cNvSpPr txBox="1"/>
          <p:nvPr/>
        </p:nvSpPr>
        <p:spPr>
          <a:xfrm>
            <a:off x="3742944" y="1057034"/>
            <a:ext cx="203606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전체 유저 그룹 분포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65F8C7-2A6A-96E2-6C48-F3CD9299FAD1}"/>
              </a:ext>
            </a:extLst>
          </p:cNvPr>
          <p:cNvSpPr txBox="1"/>
          <p:nvPr/>
        </p:nvSpPr>
        <p:spPr>
          <a:xfrm>
            <a:off x="3304032" y="4166616"/>
            <a:ext cx="124358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원인 분석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86620D2-3431-B3C2-8F77-42B3423770BD}"/>
              </a:ext>
            </a:extLst>
          </p:cNvPr>
          <p:cNvSpPr txBox="1"/>
          <p:nvPr/>
        </p:nvSpPr>
        <p:spPr>
          <a:xfrm>
            <a:off x="3144292" y="2898648"/>
            <a:ext cx="5986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범례</a:t>
            </a:r>
          </a:p>
        </p:txBody>
      </p:sp>
    </p:spTree>
    <p:extLst>
      <p:ext uri="{BB962C8B-B14F-4D97-AF65-F5344CB8AC3E}">
        <p14:creationId xmlns:p14="http://schemas.microsoft.com/office/powerpoint/2010/main" val="3158797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</TotalTime>
  <Words>901</Words>
  <Application>Microsoft Office PowerPoint</Application>
  <PresentationFormat>와이드스크린</PresentationFormat>
  <Paragraphs>243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 J</cp:lastModifiedBy>
  <cp:revision>8</cp:revision>
  <dcterms:created xsi:type="dcterms:W3CDTF">2026-03-19T07:53:49Z</dcterms:created>
  <dcterms:modified xsi:type="dcterms:W3CDTF">2026-04-06T07:50:34Z</dcterms:modified>
</cp:coreProperties>
</file>